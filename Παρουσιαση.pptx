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74022e87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74022e87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dae31b35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dae31b35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0dae31b3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0dae31b3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74022e87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e74022e87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74022e87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74022e87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74022e87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74022e87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74022e87f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e74022e87f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74022e87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74022e87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74022e87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74022e87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gallery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https://eclass.saekagdim.gr/courses/TEPDEAR202610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p13"/>
          <p:cNvSpPr txBox="1"/>
          <p:nvPr/>
        </p:nvSpPr>
        <p:spPr>
          <a:xfrm>
            <a:off x="703200" y="0"/>
            <a:ext cx="6930300" cy="831300"/>
          </a:xfrm>
          <a:prstGeom prst="rect">
            <a:avLst/>
          </a:prstGeom>
          <a:noFill/>
          <a:ln>
            <a:noFill/>
          </a:ln>
        </p:spPr>
        <p:txBody>
          <a:bodyPr anchorCtr="0" anchor="t" bIns="91425" lIns="91425" spcFirstLastPara="1" rIns="91425" wrap="square" tIns="91425">
            <a:spAutoFit/>
          </a:bodyPr>
          <a:lstStyle/>
          <a:p>
            <a:pPr indent="0" lvl="0" marL="0" rtl="0" algn="ctr">
              <a:lnSpc>
                <a:spcPct val="110000"/>
              </a:lnSpc>
              <a:spcBef>
                <a:spcPts val="0"/>
              </a:spcBef>
              <a:spcAft>
                <a:spcPts val="0"/>
              </a:spcAft>
              <a:buNone/>
            </a:pPr>
            <a:r>
              <a:rPr lang="el" sz="4200">
                <a:solidFill>
                  <a:srgbClr val="741B47"/>
                </a:solidFill>
                <a:uFill>
                  <a:noFill/>
                </a:uFill>
                <a:latin typeface="Courier New"/>
                <a:ea typeface="Courier New"/>
                <a:cs typeface="Courier New"/>
                <a:sym typeface="Courier New"/>
                <a:hlinkClick r:id="rId4">
                  <a:extLst>
                    <a:ext uri="{A12FA001-AC4F-418D-AE19-62706E023703}">
                      <ahyp:hlinkClr val="tx"/>
                    </a:ext>
                  </a:extLst>
                </a:hlinkClick>
              </a:rPr>
              <a:t>ΔΙΑΘΕΜΑΤΙΚΗ ΕΡΓΑΣΙΑ</a:t>
            </a:r>
            <a:endParaRPr>
              <a:solidFill>
                <a:srgbClr val="741B47"/>
              </a:solidFill>
            </a:endParaRPr>
          </a:p>
        </p:txBody>
      </p:sp>
      <p:cxnSp>
        <p:nvCxnSpPr>
          <p:cNvPr id="68" name="Google Shape;68;p13"/>
          <p:cNvCxnSpPr/>
          <p:nvPr/>
        </p:nvCxnSpPr>
        <p:spPr>
          <a:xfrm>
            <a:off x="703050" y="831300"/>
            <a:ext cx="6930300" cy="32100"/>
          </a:xfrm>
          <a:prstGeom prst="straightConnector1">
            <a:avLst/>
          </a:prstGeom>
          <a:noFill/>
          <a:ln cap="flat" cmpd="sng" w="19050">
            <a:solidFill>
              <a:srgbClr val="741B47"/>
            </a:solidFill>
            <a:prstDash val="solid"/>
            <a:round/>
            <a:headEnd len="med" w="med" type="diamond"/>
            <a:tailEnd len="med" w="med" type="diamond"/>
          </a:ln>
        </p:spPr>
      </p:cxnSp>
      <p:sp>
        <p:nvSpPr>
          <p:cNvPr id="69" name="Google Shape;69;p13"/>
          <p:cNvSpPr/>
          <p:nvPr/>
        </p:nvSpPr>
        <p:spPr>
          <a:xfrm>
            <a:off x="4861200" y="3368400"/>
            <a:ext cx="4282800" cy="17751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 name="Google Shape;70;p13"/>
          <p:cNvSpPr/>
          <p:nvPr/>
        </p:nvSpPr>
        <p:spPr>
          <a:xfrm>
            <a:off x="61500" y="974025"/>
            <a:ext cx="5426100" cy="11250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 name="Google Shape;71;p13"/>
          <p:cNvSpPr txBox="1"/>
          <p:nvPr/>
        </p:nvSpPr>
        <p:spPr>
          <a:xfrm>
            <a:off x="51775" y="980275"/>
            <a:ext cx="5435700" cy="111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2"/>
              </a:buClr>
              <a:buSzPts val="1100"/>
              <a:buFont typeface="Arial"/>
              <a:buNone/>
            </a:pPr>
            <a:r>
              <a:rPr b="1" lang="el" sz="2200">
                <a:solidFill>
                  <a:srgbClr val="FD4284"/>
                </a:solidFill>
                <a:latin typeface="Courier New"/>
                <a:ea typeface="Courier New"/>
                <a:cs typeface="Courier New"/>
                <a:sym typeface="Courier New"/>
              </a:rPr>
              <a:t>Παρουσίαση Εφαρμογής SuperMarket Management System</a:t>
            </a:r>
            <a:endParaRPr sz="1800">
              <a:solidFill>
                <a:schemeClr val="lt2"/>
              </a:solidFill>
              <a:latin typeface="Courier New"/>
              <a:ea typeface="Courier New"/>
              <a:cs typeface="Courier New"/>
              <a:sym typeface="Courier New"/>
            </a:endParaRPr>
          </a:p>
          <a:p>
            <a:pPr indent="0" lvl="0" marL="0" rtl="0" algn="l">
              <a:spcBef>
                <a:spcPts val="600"/>
              </a:spcBef>
              <a:spcAft>
                <a:spcPts val="0"/>
              </a:spcAft>
              <a:buNone/>
            </a:pPr>
            <a:r>
              <a:t/>
            </a:r>
            <a:endParaRPr sz="1800">
              <a:solidFill>
                <a:schemeClr val="lt2"/>
              </a:solidFill>
              <a:latin typeface="Roboto"/>
              <a:ea typeface="Roboto"/>
              <a:cs typeface="Roboto"/>
              <a:sym typeface="Roboto"/>
            </a:endParaRPr>
          </a:p>
        </p:txBody>
      </p:sp>
      <p:sp>
        <p:nvSpPr>
          <p:cNvPr id="72" name="Google Shape;72;p13"/>
          <p:cNvSpPr txBox="1"/>
          <p:nvPr/>
        </p:nvSpPr>
        <p:spPr>
          <a:xfrm>
            <a:off x="4852925" y="3376675"/>
            <a:ext cx="4291200" cy="17667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b="1" lang="el" sz="1300">
                <a:solidFill>
                  <a:srgbClr val="0000FF"/>
                </a:solidFill>
                <a:latin typeface="Courier New"/>
                <a:ea typeface="Courier New"/>
                <a:cs typeface="Courier New"/>
                <a:sym typeface="Courier New"/>
              </a:rPr>
              <a:t>Ομαδική Εργασία</a:t>
            </a:r>
            <a:endParaRPr b="1" sz="1300">
              <a:solidFill>
                <a:srgbClr val="0000FF"/>
              </a:solidFill>
              <a:latin typeface="Courier New"/>
              <a:ea typeface="Courier New"/>
              <a:cs typeface="Courier New"/>
              <a:sym typeface="Courier New"/>
            </a:endParaRPr>
          </a:p>
          <a:p>
            <a:pPr indent="0" lvl="0" marL="0" rtl="0" algn="l">
              <a:spcBef>
                <a:spcPts val="1200"/>
              </a:spcBef>
              <a:spcAft>
                <a:spcPts val="0"/>
              </a:spcAft>
              <a:buClr>
                <a:schemeClr val="dk2"/>
              </a:buClr>
              <a:buSzPts val="1100"/>
              <a:buFont typeface="Arial"/>
              <a:buNone/>
            </a:pPr>
            <a:r>
              <a:rPr b="1" lang="el" sz="1300">
                <a:solidFill>
                  <a:srgbClr val="0000FF"/>
                </a:solidFill>
                <a:latin typeface="Courier New"/>
                <a:ea typeface="Courier New"/>
                <a:cs typeface="Courier New"/>
                <a:sym typeface="Courier New"/>
              </a:rPr>
              <a:t>Ονοματεπώνυμα:ΞΗΡΑΔΑΚΗΣ ΚΑΡΑΚΟΥΣΗ</a:t>
            </a:r>
            <a:endParaRPr b="1" sz="1300">
              <a:solidFill>
                <a:srgbClr val="0000FF"/>
              </a:solidFill>
              <a:latin typeface="Courier New"/>
              <a:ea typeface="Courier New"/>
              <a:cs typeface="Courier New"/>
              <a:sym typeface="Courier New"/>
            </a:endParaRPr>
          </a:p>
          <a:p>
            <a:pPr indent="0" lvl="0" marL="0" rtl="0" algn="l">
              <a:spcBef>
                <a:spcPts val="1200"/>
              </a:spcBef>
              <a:spcAft>
                <a:spcPts val="0"/>
              </a:spcAft>
              <a:buClr>
                <a:schemeClr val="dk2"/>
              </a:buClr>
              <a:buSzPts val="1100"/>
              <a:buFont typeface="Arial"/>
              <a:buNone/>
            </a:pPr>
            <a:br>
              <a:rPr b="1" lang="el" sz="1300">
                <a:solidFill>
                  <a:srgbClr val="0000FF"/>
                </a:solidFill>
                <a:latin typeface="Courier New"/>
                <a:ea typeface="Courier New"/>
                <a:cs typeface="Courier New"/>
                <a:sym typeface="Courier New"/>
              </a:rPr>
            </a:br>
            <a:r>
              <a:rPr b="1" lang="el" sz="1300">
                <a:solidFill>
                  <a:srgbClr val="0000FF"/>
                </a:solidFill>
                <a:latin typeface="Courier New"/>
                <a:ea typeface="Courier New"/>
                <a:cs typeface="Courier New"/>
                <a:sym typeface="Courier New"/>
              </a:rPr>
              <a:t>Τμήμα:ΤΕΠ Δ΄</a:t>
            </a:r>
            <a:endParaRPr b="1" sz="1300">
              <a:solidFill>
                <a:srgbClr val="0000FF"/>
              </a:solidFill>
              <a:latin typeface="Courier New"/>
              <a:ea typeface="Courier New"/>
              <a:cs typeface="Courier New"/>
              <a:sym typeface="Courier New"/>
            </a:endParaRPr>
          </a:p>
          <a:p>
            <a:pPr indent="0" lvl="0" marL="0" rtl="0" algn="l">
              <a:spcBef>
                <a:spcPts val="1200"/>
              </a:spcBef>
              <a:spcAft>
                <a:spcPts val="1200"/>
              </a:spcAft>
              <a:buNone/>
            </a:pPr>
            <a:br>
              <a:rPr b="1" lang="el" sz="1300">
                <a:solidFill>
                  <a:srgbClr val="0000FF"/>
                </a:solidFill>
                <a:latin typeface="Courier New"/>
                <a:ea typeface="Courier New"/>
                <a:cs typeface="Courier New"/>
                <a:sym typeface="Courier New"/>
              </a:rPr>
            </a:br>
            <a:r>
              <a:rPr b="1" lang="el" sz="1300">
                <a:solidFill>
                  <a:srgbClr val="0000FF"/>
                </a:solidFill>
                <a:latin typeface="Courier New"/>
                <a:ea typeface="Courier New"/>
                <a:cs typeface="Courier New"/>
                <a:sym typeface="Courier New"/>
              </a:rPr>
              <a:t>Ημερομηνία: 19/5</a:t>
            </a:r>
            <a:endParaRPr b="1" sz="1800">
              <a:solidFill>
                <a:srgbClr val="0000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4"/>
          <p:cNvSpPr/>
          <p:nvPr/>
        </p:nvSpPr>
        <p:spPr>
          <a:xfrm>
            <a:off x="486674" y="1183675"/>
            <a:ext cx="2880000" cy="35625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8" name="Google Shape;78;p14"/>
          <p:cNvSpPr/>
          <p:nvPr/>
        </p:nvSpPr>
        <p:spPr>
          <a:xfrm>
            <a:off x="5422850" y="1183675"/>
            <a:ext cx="3195000" cy="35625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9" name="Google Shape;79;p14"/>
          <p:cNvSpPr/>
          <p:nvPr/>
        </p:nvSpPr>
        <p:spPr>
          <a:xfrm>
            <a:off x="3393875" y="2478825"/>
            <a:ext cx="2001900" cy="402900"/>
          </a:xfrm>
          <a:prstGeom prst="leftRightArrow">
            <a:avLst>
              <a:gd fmla="val 50000" name="adj1"/>
              <a:gd fmla="val 50000" name="adj2"/>
            </a:avLst>
          </a:prstGeom>
          <a:solidFill>
            <a:srgbClr val="0060FF">
              <a:alpha val="383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124D"/>
              </a:solidFill>
              <a:highlight>
                <a:srgbClr val="073763"/>
              </a:highlight>
              <a:latin typeface="Roboto"/>
              <a:ea typeface="Roboto"/>
              <a:cs typeface="Roboto"/>
              <a:sym typeface="Roboto"/>
            </a:endParaRPr>
          </a:p>
        </p:txBody>
      </p:sp>
      <p:cxnSp>
        <p:nvCxnSpPr>
          <p:cNvPr id="80" name="Google Shape;80;p14"/>
          <p:cNvCxnSpPr/>
          <p:nvPr/>
        </p:nvCxnSpPr>
        <p:spPr>
          <a:xfrm>
            <a:off x="1237475" y="796575"/>
            <a:ext cx="6755100" cy="33300"/>
          </a:xfrm>
          <a:prstGeom prst="straightConnector1">
            <a:avLst/>
          </a:prstGeom>
          <a:noFill/>
          <a:ln cap="flat" cmpd="sng" w="19050">
            <a:solidFill>
              <a:schemeClr val="lt1"/>
            </a:solidFill>
            <a:prstDash val="solid"/>
            <a:round/>
            <a:headEnd len="med" w="med" type="diamond"/>
            <a:tailEnd len="med" w="med" type="diamond"/>
          </a:ln>
        </p:spPr>
      </p:cxnSp>
      <p:sp>
        <p:nvSpPr>
          <p:cNvPr id="81" name="Google Shape;81;p14"/>
          <p:cNvSpPr txBox="1"/>
          <p:nvPr/>
        </p:nvSpPr>
        <p:spPr>
          <a:xfrm>
            <a:off x="513875" y="1199275"/>
            <a:ext cx="2880000" cy="332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Το </a:t>
            </a:r>
            <a:r>
              <a:rPr b="1" lang="el" sz="1100">
                <a:solidFill>
                  <a:schemeClr val="lt1"/>
                </a:solidFill>
                <a:latin typeface="Courier New"/>
                <a:ea typeface="Courier New"/>
                <a:cs typeface="Courier New"/>
                <a:sym typeface="Courier New"/>
              </a:rPr>
              <a:t>SuperMarket Management System</a:t>
            </a:r>
            <a:r>
              <a:rPr lang="el" sz="1100">
                <a:solidFill>
                  <a:schemeClr val="lt1"/>
                </a:solidFill>
                <a:latin typeface="Courier New"/>
                <a:ea typeface="Courier New"/>
                <a:cs typeface="Courier New"/>
                <a:sym typeface="Courier New"/>
              </a:rPr>
              <a:t> είναι μια εφαρμογή διαχείρισης σούπερ μάρκετ που αναπτύχθηκε σε C# με χρήση Windows Forms και βάσης δεδομένων.</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Η εφαρμογή επιτρέπει την προβολή και διαχείριση προϊόντων, την προσθήκη τους σε καλάθι αγορών και την παρακολούθηση των δεδομένων μέσω ενός σύγχρονου περιβάλλοντος χρήστη. Επιπλέον, διαθέτει ξεχωριστό πίνακα διαχείρισης (Admin Panel) για την εποπτεία και τον έλεγχο της λειτουργίας του συστήματος.</a:t>
            </a:r>
            <a:endParaRPr sz="11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lt1"/>
              </a:solidFill>
              <a:latin typeface="Roboto"/>
              <a:ea typeface="Roboto"/>
              <a:cs typeface="Roboto"/>
              <a:sym typeface="Roboto"/>
            </a:endParaRPr>
          </a:p>
        </p:txBody>
      </p:sp>
      <p:sp>
        <p:nvSpPr>
          <p:cNvPr id="82" name="Google Shape;82;p14"/>
          <p:cNvSpPr txBox="1"/>
          <p:nvPr/>
        </p:nvSpPr>
        <p:spPr>
          <a:xfrm>
            <a:off x="5456525" y="1183675"/>
            <a:ext cx="3195000" cy="356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l" sz="1100">
                <a:solidFill>
                  <a:schemeClr val="lt1"/>
                </a:solidFill>
                <a:latin typeface="Courier New"/>
                <a:ea typeface="Courier New"/>
                <a:cs typeface="Courier New"/>
                <a:sym typeface="Courier New"/>
              </a:rPr>
              <a:t>Στόχος της εφαρμογής είναι να προσομοιώσει τη λειτουργία ενός πραγματικού συστήματος διαχείρισης καταστήματος, παρέχοντας εύκολη πρόσβαση στα προϊόντα, γρήγορη οργάνωση των αγορών και αποτελεσματική διαχείριση των δεδομένων.</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b="1" lang="el" sz="1300">
                <a:solidFill>
                  <a:schemeClr val="lt1"/>
                </a:solidFill>
                <a:latin typeface="Courier New"/>
                <a:ea typeface="Courier New"/>
                <a:cs typeface="Courier New"/>
                <a:sym typeface="Courier New"/>
              </a:rPr>
              <a:t>Συνοπτικά</a:t>
            </a:r>
            <a:endParaRPr b="1" sz="1300">
              <a:solidFill>
                <a:schemeClr val="lt1"/>
              </a:solidFill>
              <a:latin typeface="Courier New"/>
              <a:ea typeface="Courier New"/>
              <a:cs typeface="Courier New"/>
              <a:sym typeface="Courier New"/>
            </a:endParaRPr>
          </a:p>
          <a:p>
            <a:pPr indent="-298450" lvl="0" marL="457200" rtl="0" algn="l">
              <a:lnSpc>
                <a:spcPct val="115000"/>
              </a:lnSpc>
              <a:spcBef>
                <a:spcPts val="1200"/>
              </a:spcBef>
              <a:spcAft>
                <a:spcPts val="0"/>
              </a:spcAft>
              <a:buClr>
                <a:schemeClr val="lt1"/>
              </a:buClr>
              <a:buSzPts val="1100"/>
              <a:buFont typeface="Courier New"/>
              <a:buChar char="●"/>
            </a:pPr>
            <a:r>
              <a:rPr lang="el" sz="1100">
                <a:solidFill>
                  <a:schemeClr val="lt1"/>
                </a:solidFill>
                <a:latin typeface="Courier New"/>
                <a:ea typeface="Courier New"/>
                <a:cs typeface="Courier New"/>
                <a:sym typeface="Courier New"/>
              </a:rPr>
              <a:t>Διαχείριση προϊόντων</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Char char="●"/>
            </a:pPr>
            <a:r>
              <a:rPr lang="el" sz="1100">
                <a:solidFill>
                  <a:schemeClr val="lt1"/>
                </a:solidFill>
                <a:latin typeface="Courier New"/>
                <a:ea typeface="Courier New"/>
                <a:cs typeface="Courier New"/>
                <a:sym typeface="Courier New"/>
              </a:rPr>
              <a:t>Σύνδεση με βάση δεδομένων</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Char char="●"/>
            </a:pPr>
            <a:r>
              <a:rPr lang="el" sz="1100">
                <a:solidFill>
                  <a:schemeClr val="lt1"/>
                </a:solidFill>
                <a:latin typeface="Courier New"/>
                <a:ea typeface="Courier New"/>
                <a:cs typeface="Courier New"/>
                <a:sym typeface="Courier New"/>
              </a:rPr>
              <a:t>Καλάθι αγορών (Cart)</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Char char="●"/>
            </a:pPr>
            <a:r>
              <a:rPr lang="el" sz="1100">
                <a:solidFill>
                  <a:schemeClr val="lt1"/>
                </a:solidFill>
                <a:latin typeface="Courier New"/>
                <a:ea typeface="Courier New"/>
                <a:cs typeface="Courier New"/>
                <a:sym typeface="Courier New"/>
              </a:rPr>
              <a:t>Σύγχρονο γραφικό περιβάλλον (Dashboard UI)</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Char char="●"/>
            </a:pPr>
            <a:r>
              <a:rPr lang="el" sz="1100">
                <a:solidFill>
                  <a:schemeClr val="lt1"/>
                </a:solidFill>
                <a:latin typeface="Courier New"/>
                <a:ea typeface="Courier New"/>
                <a:cs typeface="Courier New"/>
                <a:sym typeface="Courier New"/>
              </a:rPr>
              <a:t>Εύχρηστη και επεκτάσιμη δομή</a:t>
            </a:r>
            <a:endParaRPr sz="1800">
              <a:solidFill>
                <a:schemeClr val="lt2"/>
              </a:solidFill>
              <a:latin typeface="Roboto"/>
              <a:ea typeface="Roboto"/>
              <a:cs typeface="Roboto"/>
              <a:sym typeface="Roboto"/>
            </a:endParaRPr>
          </a:p>
        </p:txBody>
      </p:sp>
      <p:sp>
        <p:nvSpPr>
          <p:cNvPr id="83" name="Google Shape;83;p14"/>
          <p:cNvSpPr/>
          <p:nvPr/>
        </p:nvSpPr>
        <p:spPr>
          <a:xfrm>
            <a:off x="1237475" y="45100"/>
            <a:ext cx="6755100" cy="6429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4" name="Google Shape;84;p14"/>
          <p:cNvSpPr txBox="1"/>
          <p:nvPr/>
        </p:nvSpPr>
        <p:spPr>
          <a:xfrm>
            <a:off x="1237450" y="53450"/>
            <a:ext cx="6755100" cy="6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sz="3000">
                <a:solidFill>
                  <a:schemeClr val="lt1"/>
                </a:solidFill>
                <a:latin typeface="Courier New"/>
                <a:ea typeface="Courier New"/>
                <a:cs typeface="Courier New"/>
                <a:sym typeface="Courier New"/>
              </a:rPr>
              <a:t>Τι είναι η εφαρμογή; </a:t>
            </a:r>
            <a:endParaRPr sz="3000">
              <a:solidFill>
                <a:schemeClr val="lt1"/>
              </a:solidFill>
              <a:latin typeface="Courier New"/>
              <a:ea typeface="Courier New"/>
              <a:cs typeface="Courier New"/>
              <a:sym typeface="Courier Ne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5"/>
          <p:cNvSpPr txBox="1"/>
          <p:nvPr/>
        </p:nvSpPr>
        <p:spPr>
          <a:xfrm>
            <a:off x="5274375" y="0"/>
            <a:ext cx="2151900" cy="6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solidFill>
                <a:schemeClr val="lt1"/>
              </a:solidFill>
              <a:latin typeface="Courier New"/>
              <a:ea typeface="Courier New"/>
              <a:cs typeface="Courier New"/>
              <a:sym typeface="Courier New"/>
            </a:endParaRPr>
          </a:p>
        </p:txBody>
      </p:sp>
      <p:sp>
        <p:nvSpPr>
          <p:cNvPr id="90" name="Google Shape;90;p15"/>
          <p:cNvSpPr/>
          <p:nvPr/>
        </p:nvSpPr>
        <p:spPr>
          <a:xfrm>
            <a:off x="131954" y="1024600"/>
            <a:ext cx="2512500" cy="21675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 name="Google Shape;91;p15"/>
          <p:cNvSpPr/>
          <p:nvPr/>
        </p:nvSpPr>
        <p:spPr>
          <a:xfrm>
            <a:off x="6310825" y="1033825"/>
            <a:ext cx="2475000" cy="21675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2" name="Google Shape;92;p15"/>
          <p:cNvSpPr/>
          <p:nvPr/>
        </p:nvSpPr>
        <p:spPr>
          <a:xfrm>
            <a:off x="131975" y="3386825"/>
            <a:ext cx="2654400" cy="16683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a:latin typeface="Roboto"/>
              <a:ea typeface="Roboto"/>
              <a:cs typeface="Roboto"/>
              <a:sym typeface="Roboto"/>
            </a:endParaRPr>
          </a:p>
        </p:txBody>
      </p:sp>
      <p:sp>
        <p:nvSpPr>
          <p:cNvPr id="93" name="Google Shape;93;p15"/>
          <p:cNvSpPr/>
          <p:nvPr/>
        </p:nvSpPr>
        <p:spPr>
          <a:xfrm>
            <a:off x="3240138" y="1024600"/>
            <a:ext cx="2475000" cy="21675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4" name="Google Shape;94;p15"/>
          <p:cNvCxnSpPr/>
          <p:nvPr/>
        </p:nvCxnSpPr>
        <p:spPr>
          <a:xfrm>
            <a:off x="1237475" y="796575"/>
            <a:ext cx="6755100" cy="33300"/>
          </a:xfrm>
          <a:prstGeom prst="straightConnector1">
            <a:avLst/>
          </a:prstGeom>
          <a:noFill/>
          <a:ln cap="flat" cmpd="sng" w="19050">
            <a:solidFill>
              <a:schemeClr val="lt1"/>
            </a:solidFill>
            <a:prstDash val="solid"/>
            <a:round/>
            <a:headEnd len="med" w="med" type="diamond"/>
            <a:tailEnd len="med" w="med" type="diamond"/>
          </a:ln>
        </p:spPr>
      </p:cxnSp>
      <p:sp>
        <p:nvSpPr>
          <p:cNvPr id="95" name="Google Shape;95;p15"/>
          <p:cNvSpPr txBox="1"/>
          <p:nvPr/>
        </p:nvSpPr>
        <p:spPr>
          <a:xfrm>
            <a:off x="1262500" y="95200"/>
            <a:ext cx="6730200" cy="648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b="1" lang="el" sz="2300">
                <a:solidFill>
                  <a:schemeClr val="lt1"/>
                </a:solidFill>
                <a:latin typeface="Courier New"/>
                <a:ea typeface="Courier New"/>
                <a:cs typeface="Courier New"/>
                <a:sym typeface="Courier New"/>
              </a:rPr>
              <a:t>• Τεχνολογίες που Χρησιμοποιήθηκαν •</a:t>
            </a:r>
            <a:endParaRPr sz="2000">
              <a:solidFill>
                <a:schemeClr val="lt2"/>
              </a:solidFill>
              <a:latin typeface="Roboto"/>
              <a:ea typeface="Roboto"/>
              <a:cs typeface="Roboto"/>
              <a:sym typeface="Roboto"/>
            </a:endParaRPr>
          </a:p>
        </p:txBody>
      </p:sp>
      <p:sp>
        <p:nvSpPr>
          <p:cNvPr id="96" name="Google Shape;96;p15"/>
          <p:cNvSpPr txBox="1"/>
          <p:nvPr/>
        </p:nvSpPr>
        <p:spPr>
          <a:xfrm>
            <a:off x="131975" y="1024475"/>
            <a:ext cx="2512500" cy="216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400"/>
              </a:spcBef>
              <a:spcAft>
                <a:spcPts val="0"/>
              </a:spcAft>
              <a:buClr>
                <a:schemeClr val="dk2"/>
              </a:buClr>
              <a:buSzPts val="1100"/>
              <a:buFont typeface="Arial"/>
              <a:buNone/>
            </a:pPr>
            <a:r>
              <a:rPr b="1" lang="el" sz="1000">
                <a:solidFill>
                  <a:srgbClr val="FF0000"/>
                </a:solidFill>
                <a:latin typeface="Courier New"/>
                <a:ea typeface="Courier New"/>
                <a:cs typeface="Courier New"/>
                <a:sym typeface="Courier New"/>
              </a:rPr>
              <a:t>C#</a:t>
            </a:r>
            <a:endParaRPr b="1" sz="1000">
              <a:solidFill>
                <a:srgbClr val="FF0000"/>
              </a:solidFill>
              <a:latin typeface="Courier New"/>
              <a:ea typeface="Courier New"/>
              <a:cs typeface="Courier New"/>
              <a:sym typeface="Courier New"/>
            </a:endParaRPr>
          </a:p>
          <a:p>
            <a:pPr indent="0" lvl="0" marL="0" rtl="0" algn="l">
              <a:lnSpc>
                <a:spcPct val="100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Η εφαρμογή αναπτύχθηκε στη γλώσσα προγραμματισμού C#, μία από τις πιο δημοφιλείς γλώσσες της πλατφόρμας .NET. Η C# προσφέρει αντικειμενοστραφή προγραμματισμό (Object-Oriented Programming), υψηλή απόδοση και ευκολία στη δημιουργία εφαρμογών για Windows.</a:t>
            </a:r>
            <a:endParaRPr sz="1000">
              <a:solidFill>
                <a:schemeClr val="lt1"/>
              </a:solidFill>
              <a:latin typeface="Courier New"/>
              <a:ea typeface="Courier New"/>
              <a:cs typeface="Courier New"/>
              <a:sym typeface="Courier New"/>
            </a:endParaRPr>
          </a:p>
          <a:p>
            <a:pPr indent="0" lvl="0" marL="0" rtl="0" algn="l">
              <a:lnSpc>
                <a:spcPct val="100000"/>
              </a:lnSpc>
              <a:spcBef>
                <a:spcPts val="1200"/>
              </a:spcBef>
              <a:spcAft>
                <a:spcPts val="0"/>
              </a:spcAft>
              <a:buNone/>
            </a:pPr>
            <a:r>
              <a:t/>
            </a:r>
            <a:endParaRPr sz="1600">
              <a:solidFill>
                <a:schemeClr val="lt2"/>
              </a:solidFill>
              <a:latin typeface="Roboto"/>
              <a:ea typeface="Roboto"/>
              <a:cs typeface="Roboto"/>
              <a:sym typeface="Roboto"/>
            </a:endParaRPr>
          </a:p>
        </p:txBody>
      </p:sp>
      <p:sp>
        <p:nvSpPr>
          <p:cNvPr id="97" name="Google Shape;97;p15"/>
          <p:cNvSpPr txBox="1"/>
          <p:nvPr/>
        </p:nvSpPr>
        <p:spPr>
          <a:xfrm>
            <a:off x="3221400" y="1033825"/>
            <a:ext cx="2512500" cy="216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l" sz="1000">
                <a:solidFill>
                  <a:srgbClr val="FF0000"/>
                </a:solidFill>
                <a:latin typeface="Courier New"/>
                <a:ea typeface="Courier New"/>
                <a:cs typeface="Courier New"/>
                <a:sym typeface="Courier New"/>
              </a:rPr>
              <a:t>Windows Forms</a:t>
            </a:r>
            <a:endParaRPr b="1" sz="1000">
              <a:solidFill>
                <a:srgbClr val="FF0000"/>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Για τη δημιουργία του γραφικού περιβάλλοντος χρησιμοποιήθηκε η τεχνολογία Windows Forms. Μέσω αυτής υλοποιήθηκαν οι φόρμες, τα κουμπιά, οι λίστες προϊόντων και το σύγχρονο dashboard περιβάλλον της εφαρμογής.</a:t>
            </a:r>
            <a:endParaRPr sz="10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700">
              <a:solidFill>
                <a:schemeClr val="lt2"/>
              </a:solidFill>
              <a:latin typeface="Roboto"/>
              <a:ea typeface="Roboto"/>
              <a:cs typeface="Roboto"/>
              <a:sym typeface="Roboto"/>
            </a:endParaRPr>
          </a:p>
        </p:txBody>
      </p:sp>
      <p:sp>
        <p:nvSpPr>
          <p:cNvPr id="98" name="Google Shape;98;p15"/>
          <p:cNvSpPr txBox="1"/>
          <p:nvPr/>
        </p:nvSpPr>
        <p:spPr>
          <a:xfrm>
            <a:off x="6302350" y="1050525"/>
            <a:ext cx="2475000" cy="216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l" sz="1000">
                <a:solidFill>
                  <a:srgbClr val="FF0000"/>
                </a:solidFill>
                <a:latin typeface="Courier New"/>
                <a:ea typeface="Courier New"/>
                <a:cs typeface="Courier New"/>
                <a:sym typeface="Courier New"/>
              </a:rPr>
              <a:t>Dashboard UI</a:t>
            </a:r>
            <a:endParaRPr b="1" sz="1000">
              <a:solidFill>
                <a:srgbClr val="FF0000"/>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Το γραφικό περιβάλλον σχεδιάστηκε με σύγχρονη αισθητική τύπου Dashboard, παρόμοια με εφαρμογές και ιστοσελίδες ηλεκτρονικού εμπορίου. Περιλαμβάνει dark theme, sidebar navigation και ξεχωριστές ενότητες για το Cart, τη Database και το Admin Panel.</a:t>
            </a:r>
            <a:endParaRPr sz="10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lt2"/>
              </a:solidFill>
              <a:latin typeface="Roboto"/>
              <a:ea typeface="Roboto"/>
              <a:cs typeface="Roboto"/>
              <a:sym typeface="Roboto"/>
            </a:endParaRPr>
          </a:p>
        </p:txBody>
      </p:sp>
      <p:sp>
        <p:nvSpPr>
          <p:cNvPr id="99" name="Google Shape;99;p15"/>
          <p:cNvSpPr txBox="1"/>
          <p:nvPr/>
        </p:nvSpPr>
        <p:spPr>
          <a:xfrm>
            <a:off x="135275" y="3401725"/>
            <a:ext cx="2654400" cy="166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l" sz="1000">
                <a:solidFill>
                  <a:srgbClr val="FF0000"/>
                </a:solidFill>
                <a:latin typeface="Courier New"/>
                <a:ea typeface="Courier New"/>
                <a:cs typeface="Courier New"/>
                <a:sym typeface="Courier New"/>
              </a:rPr>
              <a:t>Visual Studio</a:t>
            </a:r>
            <a:endParaRPr b="1" sz="1000">
              <a:solidFill>
                <a:srgbClr val="FF0000"/>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Η ανάπτυξη και ο έλεγχος του προγράμματος πραγματοποιήθηκαν στο Visual Studio, το οποίο παρέχει εργαλεία σχεδίασης διεπαφών, συγγραφής κώδικα, αποσφαλμάτωσης (debugging) και διαχείρισης έργων.</a:t>
            </a:r>
            <a:endParaRPr sz="10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000">
              <a:solidFill>
                <a:schemeClr val="lt1"/>
              </a:solidFill>
              <a:latin typeface="Courier New"/>
              <a:ea typeface="Courier New"/>
              <a:cs typeface="Courier New"/>
              <a:sym typeface="Courier New"/>
            </a:endParaRPr>
          </a:p>
        </p:txBody>
      </p:sp>
      <p:sp>
        <p:nvSpPr>
          <p:cNvPr id="100" name="Google Shape;100;p15"/>
          <p:cNvSpPr/>
          <p:nvPr/>
        </p:nvSpPr>
        <p:spPr>
          <a:xfrm>
            <a:off x="3150450" y="3405275"/>
            <a:ext cx="2654400" cy="16683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a:latin typeface="Roboto"/>
              <a:ea typeface="Roboto"/>
              <a:cs typeface="Roboto"/>
              <a:sym typeface="Roboto"/>
            </a:endParaRPr>
          </a:p>
        </p:txBody>
      </p:sp>
      <p:sp>
        <p:nvSpPr>
          <p:cNvPr id="101" name="Google Shape;101;p15"/>
          <p:cNvSpPr/>
          <p:nvPr/>
        </p:nvSpPr>
        <p:spPr>
          <a:xfrm>
            <a:off x="6165625" y="3386825"/>
            <a:ext cx="2654400" cy="16683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a:latin typeface="Roboto"/>
              <a:ea typeface="Roboto"/>
              <a:cs typeface="Roboto"/>
              <a:sym typeface="Roboto"/>
            </a:endParaRPr>
          </a:p>
        </p:txBody>
      </p:sp>
      <p:sp>
        <p:nvSpPr>
          <p:cNvPr id="102" name="Google Shape;102;p15"/>
          <p:cNvSpPr txBox="1"/>
          <p:nvPr/>
        </p:nvSpPr>
        <p:spPr>
          <a:xfrm>
            <a:off x="3087450" y="3405275"/>
            <a:ext cx="2717400" cy="166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l" sz="1000">
                <a:solidFill>
                  <a:srgbClr val="FF0000"/>
                </a:solidFill>
                <a:latin typeface="Courier New"/>
                <a:ea typeface="Courier New"/>
                <a:cs typeface="Courier New"/>
                <a:sym typeface="Courier New"/>
              </a:rPr>
              <a:t>Βάση Δεδομένων</a:t>
            </a:r>
            <a:endParaRPr b="1" sz="1000">
              <a:solidFill>
                <a:srgbClr val="FF0000"/>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Η εφαρμογή συνδέεται με βάση δεδομένων για την αποθήκευση και ανάκτηση πληροφοριών προϊόντων. Η χρήση βάσης δεδομένων επιτρέπει τη μόνιμη αποθήκευση δεδομένων και την εύκολη διαχείριση μεγάλου αριθμού προϊόντων.</a:t>
            </a:r>
            <a:endParaRPr sz="10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000">
              <a:solidFill>
                <a:schemeClr val="lt1"/>
              </a:solidFill>
              <a:latin typeface="Courier New"/>
              <a:ea typeface="Courier New"/>
              <a:cs typeface="Courier New"/>
              <a:sym typeface="Courier New"/>
            </a:endParaRPr>
          </a:p>
        </p:txBody>
      </p:sp>
      <p:sp>
        <p:nvSpPr>
          <p:cNvPr id="103" name="Google Shape;103;p15"/>
          <p:cNvSpPr txBox="1"/>
          <p:nvPr/>
        </p:nvSpPr>
        <p:spPr>
          <a:xfrm>
            <a:off x="6165625" y="3405275"/>
            <a:ext cx="2613600" cy="166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l" sz="1000">
                <a:solidFill>
                  <a:srgbClr val="FF0000"/>
                </a:solidFill>
                <a:latin typeface="Courier New"/>
                <a:ea typeface="Courier New"/>
                <a:cs typeface="Courier New"/>
                <a:sym typeface="Courier New"/>
              </a:rPr>
              <a:t>SQL</a:t>
            </a:r>
            <a:endParaRPr b="1" sz="1000">
              <a:solidFill>
                <a:srgbClr val="FF0000"/>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Για την επικοινωνία με τη βάση δεδομένων χρησιμοποιούνται εντολές SQL (Structured Query Language), οι οποίες επιτρέπουν την εισαγωγή, αναζήτηση, ενημέρωση και διαγραφή δεδομένων.</a:t>
            </a:r>
            <a:endParaRPr sz="10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lt2"/>
              </a:solidFill>
              <a:latin typeface="Roboto"/>
              <a:ea typeface="Roboto"/>
              <a:cs typeface="Roboto"/>
              <a:sym typeface="Roboto"/>
            </a:endParaRPr>
          </a:p>
        </p:txBody>
      </p:sp>
      <p:sp>
        <p:nvSpPr>
          <p:cNvPr id="104" name="Google Shape;104;p15"/>
          <p:cNvSpPr/>
          <p:nvPr/>
        </p:nvSpPr>
        <p:spPr>
          <a:xfrm>
            <a:off x="2591100" y="2002675"/>
            <a:ext cx="630300" cy="229800"/>
          </a:xfrm>
          <a:prstGeom prst="leftRightArrow">
            <a:avLst>
              <a:gd fmla="val 50000" name="adj1"/>
              <a:gd fmla="val 50000" name="adj2"/>
            </a:avLst>
          </a:prstGeom>
          <a:solidFill>
            <a:srgbClr val="DB4437">
              <a:alpha val="6100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124D"/>
              </a:solidFill>
              <a:highlight>
                <a:srgbClr val="FF0000"/>
              </a:highlight>
              <a:latin typeface="Roboto"/>
              <a:ea typeface="Roboto"/>
              <a:cs typeface="Roboto"/>
              <a:sym typeface="Roboto"/>
            </a:endParaRPr>
          </a:p>
        </p:txBody>
      </p:sp>
      <p:sp>
        <p:nvSpPr>
          <p:cNvPr id="105" name="Google Shape;105;p15"/>
          <p:cNvSpPr/>
          <p:nvPr/>
        </p:nvSpPr>
        <p:spPr>
          <a:xfrm>
            <a:off x="5672050" y="2054875"/>
            <a:ext cx="630300" cy="229800"/>
          </a:xfrm>
          <a:prstGeom prst="leftRightArrow">
            <a:avLst>
              <a:gd fmla="val 50000" name="adj1"/>
              <a:gd fmla="val 50000" name="adj2"/>
            </a:avLst>
          </a:prstGeom>
          <a:solidFill>
            <a:srgbClr val="DB4437">
              <a:alpha val="6100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124D"/>
              </a:solidFill>
              <a:highlight>
                <a:srgbClr val="073763"/>
              </a:highlight>
              <a:latin typeface="Roboto"/>
              <a:ea typeface="Roboto"/>
              <a:cs typeface="Roboto"/>
              <a:sym typeface="Roboto"/>
            </a:endParaRPr>
          </a:p>
        </p:txBody>
      </p:sp>
      <p:sp>
        <p:nvSpPr>
          <p:cNvPr id="106" name="Google Shape;106;p15"/>
          <p:cNvSpPr/>
          <p:nvPr/>
        </p:nvSpPr>
        <p:spPr>
          <a:xfrm>
            <a:off x="2740500" y="3668500"/>
            <a:ext cx="480900" cy="167400"/>
          </a:xfrm>
          <a:prstGeom prst="leftRightArrow">
            <a:avLst>
              <a:gd fmla="val 50000" name="adj1"/>
              <a:gd fmla="val 50000" name="adj2"/>
            </a:avLst>
          </a:prstGeom>
          <a:solidFill>
            <a:srgbClr val="DB4437">
              <a:alpha val="6100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124D"/>
              </a:solidFill>
              <a:highlight>
                <a:srgbClr val="073763"/>
              </a:highlight>
              <a:latin typeface="Roboto"/>
              <a:ea typeface="Roboto"/>
              <a:cs typeface="Roboto"/>
              <a:sym typeface="Roboto"/>
            </a:endParaRPr>
          </a:p>
        </p:txBody>
      </p:sp>
      <p:sp>
        <p:nvSpPr>
          <p:cNvPr id="107" name="Google Shape;107;p15"/>
          <p:cNvSpPr/>
          <p:nvPr/>
        </p:nvSpPr>
        <p:spPr>
          <a:xfrm>
            <a:off x="5746750" y="3727350"/>
            <a:ext cx="480900" cy="167400"/>
          </a:xfrm>
          <a:prstGeom prst="leftRightArrow">
            <a:avLst>
              <a:gd fmla="val 50000" name="adj1"/>
              <a:gd fmla="val 50000" name="adj2"/>
            </a:avLst>
          </a:prstGeom>
          <a:solidFill>
            <a:srgbClr val="DB4437">
              <a:alpha val="6100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124D"/>
              </a:solidFill>
              <a:highlight>
                <a:srgbClr val="073763"/>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16"/>
          <p:cNvSpPr txBox="1"/>
          <p:nvPr/>
        </p:nvSpPr>
        <p:spPr>
          <a:xfrm>
            <a:off x="1354350" y="220425"/>
            <a:ext cx="6053700" cy="68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sz="3000">
                <a:solidFill>
                  <a:schemeClr val="lt1"/>
                </a:solidFill>
                <a:latin typeface="Courier New"/>
                <a:ea typeface="Courier New"/>
                <a:cs typeface="Courier New"/>
                <a:sym typeface="Courier New"/>
              </a:rPr>
              <a:t>&lt;Αρχιτεκτονική&gt;</a:t>
            </a:r>
            <a:endParaRPr sz="3000">
              <a:solidFill>
                <a:schemeClr val="lt1"/>
              </a:solidFill>
              <a:latin typeface="Courier New"/>
              <a:ea typeface="Courier New"/>
              <a:cs typeface="Courier New"/>
              <a:sym typeface="Courier New"/>
            </a:endParaRPr>
          </a:p>
        </p:txBody>
      </p:sp>
      <p:cxnSp>
        <p:nvCxnSpPr>
          <p:cNvPr id="113" name="Google Shape;113;p16"/>
          <p:cNvCxnSpPr/>
          <p:nvPr/>
        </p:nvCxnSpPr>
        <p:spPr>
          <a:xfrm>
            <a:off x="1337650" y="888425"/>
            <a:ext cx="6087000" cy="33300"/>
          </a:xfrm>
          <a:prstGeom prst="straightConnector1">
            <a:avLst/>
          </a:prstGeom>
          <a:noFill/>
          <a:ln cap="flat" cmpd="sng" w="19050">
            <a:solidFill>
              <a:schemeClr val="lt1"/>
            </a:solidFill>
            <a:prstDash val="solid"/>
            <a:round/>
            <a:headEnd len="med" w="med" type="diamond"/>
            <a:tailEnd len="med" w="med" type="diamond"/>
          </a:ln>
        </p:spPr>
      </p:cxnSp>
      <p:sp>
        <p:nvSpPr>
          <p:cNvPr id="114" name="Google Shape;114;p16"/>
          <p:cNvSpPr/>
          <p:nvPr/>
        </p:nvSpPr>
        <p:spPr>
          <a:xfrm>
            <a:off x="94225" y="1141925"/>
            <a:ext cx="2880000" cy="34539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5" name="Google Shape;115;p16"/>
          <p:cNvSpPr/>
          <p:nvPr/>
        </p:nvSpPr>
        <p:spPr>
          <a:xfrm>
            <a:off x="3099450" y="1097175"/>
            <a:ext cx="5970300" cy="40080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 name="Google Shape;116;p16"/>
          <p:cNvSpPr txBox="1"/>
          <p:nvPr/>
        </p:nvSpPr>
        <p:spPr>
          <a:xfrm>
            <a:off x="94225" y="1141925"/>
            <a:ext cx="2880000" cy="31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lt1"/>
                </a:solidFill>
                <a:latin typeface="Courier New"/>
                <a:ea typeface="Courier New"/>
                <a:cs typeface="Courier New"/>
                <a:sym typeface="Courier New"/>
              </a:rPr>
              <a:t>Διάγραμμα:</a:t>
            </a:r>
            <a:endParaRPr sz="16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Χρήστης</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   │</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   ▼</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GUI (Windows Forms)</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   │</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   ▼</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Business Logic</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   │</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   ▼</a:t>
            </a:r>
            <a:endParaRPr sz="1600">
              <a:solidFill>
                <a:schemeClr val="lt1"/>
              </a:solidFill>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lang="el" sz="1600">
                <a:solidFill>
                  <a:schemeClr val="lt1"/>
                </a:solidFill>
                <a:latin typeface="Courier New"/>
                <a:ea typeface="Courier New"/>
                <a:cs typeface="Courier New"/>
                <a:sym typeface="Courier New"/>
              </a:rPr>
              <a:t>Database</a:t>
            </a:r>
            <a:endParaRPr sz="16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600">
              <a:solidFill>
                <a:schemeClr val="lt1"/>
              </a:solidFill>
              <a:latin typeface="Courier New"/>
              <a:ea typeface="Courier New"/>
              <a:cs typeface="Courier New"/>
              <a:sym typeface="Courier New"/>
            </a:endParaRPr>
          </a:p>
        </p:txBody>
      </p:sp>
      <p:sp>
        <p:nvSpPr>
          <p:cNvPr id="117" name="Google Shape;117;p16"/>
          <p:cNvSpPr txBox="1"/>
          <p:nvPr/>
        </p:nvSpPr>
        <p:spPr>
          <a:xfrm>
            <a:off x="3099450" y="1072950"/>
            <a:ext cx="5886900" cy="403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2"/>
              </a:buClr>
              <a:buSzPts val="1100"/>
              <a:buFont typeface="Arial"/>
              <a:buNone/>
            </a:pPr>
            <a:r>
              <a:rPr b="1" lang="el" sz="1000">
                <a:solidFill>
                  <a:schemeClr val="lt1"/>
                </a:solidFill>
                <a:latin typeface="Courier New"/>
                <a:ea typeface="Courier New"/>
                <a:cs typeface="Courier New"/>
                <a:sym typeface="Courier New"/>
              </a:rPr>
              <a:t>Αρχιτεκτονική Συστήματος</a:t>
            </a:r>
            <a:endParaRPr b="1" sz="10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Η εφαρμογή ακολουθεί μια δομημένη αρχιτεκτονική που χωρίζεται σε τρία βασικά μέρη: το γραφικό περιβάλλον χρήστη, τη λογική της εφαρμογής και τη βάση δεδομένων.</a:t>
            </a:r>
            <a:endParaRPr sz="1000">
              <a:solidFill>
                <a:schemeClr val="lt1"/>
              </a:solidFill>
              <a:latin typeface="Courier New"/>
              <a:ea typeface="Courier New"/>
              <a:cs typeface="Courier New"/>
              <a:sym typeface="Courier New"/>
            </a:endParaRPr>
          </a:p>
          <a:p>
            <a:pPr indent="0" lvl="0" marL="0" rtl="0" algn="l">
              <a:lnSpc>
                <a:spcPct val="115000"/>
              </a:lnSpc>
              <a:spcBef>
                <a:spcPts val="1400"/>
              </a:spcBef>
              <a:spcAft>
                <a:spcPts val="0"/>
              </a:spcAft>
              <a:buClr>
                <a:schemeClr val="dk2"/>
              </a:buClr>
              <a:buSzPts val="1100"/>
              <a:buFont typeface="Arial"/>
              <a:buNone/>
            </a:pPr>
            <a:r>
              <a:rPr b="1" lang="el" sz="1000">
                <a:solidFill>
                  <a:schemeClr val="lt1"/>
                </a:solidFill>
                <a:latin typeface="Courier New"/>
                <a:ea typeface="Courier New"/>
                <a:cs typeface="Courier New"/>
                <a:sym typeface="Courier New"/>
              </a:rPr>
              <a:t>Γραφικό Περιβάλλον (GUI)</a:t>
            </a:r>
            <a:endParaRPr b="1" sz="10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Αποτελεί το τμήμα με το οποίο αλληλεπιδρά ο χρήστης. Περιλαμβάνει το Cart και το Database Tab, μέσω των οποίων πραγματοποιούνται όλες οι ενέργειες της εφαρμογής.</a:t>
            </a:r>
            <a:endParaRPr sz="1000">
              <a:solidFill>
                <a:schemeClr val="lt1"/>
              </a:solidFill>
              <a:latin typeface="Courier New"/>
              <a:ea typeface="Courier New"/>
              <a:cs typeface="Courier New"/>
              <a:sym typeface="Courier New"/>
            </a:endParaRPr>
          </a:p>
          <a:p>
            <a:pPr indent="0" lvl="0" marL="0" rtl="0" algn="l">
              <a:lnSpc>
                <a:spcPct val="115000"/>
              </a:lnSpc>
              <a:spcBef>
                <a:spcPts val="1400"/>
              </a:spcBef>
              <a:spcAft>
                <a:spcPts val="0"/>
              </a:spcAft>
              <a:buClr>
                <a:schemeClr val="dk2"/>
              </a:buClr>
              <a:buSzPts val="1100"/>
              <a:buFont typeface="Arial"/>
              <a:buNone/>
            </a:pPr>
            <a:r>
              <a:rPr b="1" lang="el" sz="1000">
                <a:solidFill>
                  <a:schemeClr val="lt1"/>
                </a:solidFill>
                <a:latin typeface="Courier New"/>
                <a:ea typeface="Courier New"/>
                <a:cs typeface="Courier New"/>
                <a:sym typeface="Courier New"/>
              </a:rPr>
              <a:t>Επιχειρησιακή Λογική (Business Logic)</a:t>
            </a:r>
            <a:endParaRPr b="1" sz="10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Είναι υπεύθυνη για την επεξεργασία των δεδομένων και τη λειτουργία του συστήματος. Διαχειρίζεται την προσθήκη και αφαίρεση προϊόντων, τον υπολογισμό του συνολικού κόστους και την επικοινωνία με τη βάση δεδομένων.</a:t>
            </a:r>
            <a:endParaRPr sz="1000">
              <a:solidFill>
                <a:schemeClr val="lt1"/>
              </a:solidFill>
              <a:latin typeface="Courier New"/>
              <a:ea typeface="Courier New"/>
              <a:cs typeface="Courier New"/>
              <a:sym typeface="Courier New"/>
            </a:endParaRPr>
          </a:p>
          <a:p>
            <a:pPr indent="0" lvl="0" marL="0" rtl="0" algn="l">
              <a:lnSpc>
                <a:spcPct val="115000"/>
              </a:lnSpc>
              <a:spcBef>
                <a:spcPts val="1400"/>
              </a:spcBef>
              <a:spcAft>
                <a:spcPts val="0"/>
              </a:spcAft>
              <a:buClr>
                <a:schemeClr val="dk2"/>
              </a:buClr>
              <a:buSzPts val="1100"/>
              <a:buFont typeface="Arial"/>
              <a:buNone/>
            </a:pPr>
            <a:r>
              <a:rPr b="1" lang="el" sz="1000">
                <a:solidFill>
                  <a:schemeClr val="lt1"/>
                </a:solidFill>
                <a:latin typeface="Courier New"/>
                <a:ea typeface="Courier New"/>
                <a:cs typeface="Courier New"/>
                <a:sym typeface="Courier New"/>
              </a:rPr>
              <a:t>Βάση Δεδομένων (Database)</a:t>
            </a:r>
            <a:endParaRPr b="1" sz="10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Αποθηκεύει όλες τις πληροφορίες των προϊόντων και επιτρέπει την ανάκτηση και ενημέρωση των δεδομένων όποτε χρειάζεται.</a:t>
            </a:r>
            <a:endParaRPr b="1" sz="1000">
              <a:solidFill>
                <a:schemeClr val="dk2"/>
              </a:solidFill>
              <a:latin typeface="Courier New"/>
              <a:ea typeface="Courier New"/>
              <a:cs typeface="Courier New"/>
              <a:sym typeface="Courier New"/>
            </a:endParaRPr>
          </a:p>
          <a:p>
            <a:pPr indent="0" lvl="0" marL="0" rtl="0" algn="l">
              <a:spcBef>
                <a:spcPts val="1200"/>
              </a:spcBef>
              <a:spcAft>
                <a:spcPts val="0"/>
              </a:spcAft>
              <a:buNone/>
            </a:pPr>
            <a:r>
              <a:t/>
            </a:r>
            <a:endParaRPr sz="1000">
              <a:solidFill>
                <a:schemeClr val="lt2"/>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cxnSp>
        <p:nvCxnSpPr>
          <p:cNvPr id="122" name="Google Shape;122;p17"/>
          <p:cNvCxnSpPr/>
          <p:nvPr/>
        </p:nvCxnSpPr>
        <p:spPr>
          <a:xfrm>
            <a:off x="1337650" y="888425"/>
            <a:ext cx="6087000" cy="33300"/>
          </a:xfrm>
          <a:prstGeom prst="straightConnector1">
            <a:avLst/>
          </a:prstGeom>
          <a:noFill/>
          <a:ln cap="flat" cmpd="sng" w="19050">
            <a:solidFill>
              <a:schemeClr val="lt1"/>
            </a:solidFill>
            <a:prstDash val="solid"/>
            <a:round/>
            <a:headEnd len="med" w="med" type="diamond"/>
            <a:tailEnd len="med" w="med" type="diamond"/>
          </a:ln>
        </p:spPr>
      </p:cxnSp>
      <p:sp>
        <p:nvSpPr>
          <p:cNvPr id="123" name="Google Shape;123;p17"/>
          <p:cNvSpPr txBox="1"/>
          <p:nvPr/>
        </p:nvSpPr>
        <p:spPr>
          <a:xfrm>
            <a:off x="1437850" y="212075"/>
            <a:ext cx="5744700" cy="676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l" sz="2400">
                <a:solidFill>
                  <a:schemeClr val="lt1"/>
                </a:solidFill>
                <a:latin typeface="Courier New"/>
                <a:ea typeface="Courier New"/>
                <a:cs typeface="Courier New"/>
                <a:sym typeface="Courier New"/>
              </a:rPr>
              <a:t>*Λειτουργίες Συστήματος*</a:t>
            </a:r>
            <a:endParaRPr sz="2400">
              <a:solidFill>
                <a:schemeClr val="lt1"/>
              </a:solidFill>
              <a:latin typeface="Courier New"/>
              <a:ea typeface="Courier New"/>
              <a:cs typeface="Courier New"/>
              <a:sym typeface="Courier New"/>
            </a:endParaRPr>
          </a:p>
        </p:txBody>
      </p:sp>
      <p:sp>
        <p:nvSpPr>
          <p:cNvPr id="124" name="Google Shape;124;p17"/>
          <p:cNvSpPr/>
          <p:nvPr/>
        </p:nvSpPr>
        <p:spPr>
          <a:xfrm>
            <a:off x="235475" y="1183675"/>
            <a:ext cx="3932700" cy="38046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5" name="Google Shape;125;p17"/>
          <p:cNvSpPr/>
          <p:nvPr/>
        </p:nvSpPr>
        <p:spPr>
          <a:xfrm>
            <a:off x="4744375" y="1183675"/>
            <a:ext cx="4166700" cy="27249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6" name="Google Shape;126;p17"/>
          <p:cNvSpPr txBox="1"/>
          <p:nvPr/>
        </p:nvSpPr>
        <p:spPr>
          <a:xfrm>
            <a:off x="235475" y="1183675"/>
            <a:ext cx="3932700" cy="380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rPr b="1" lang="el" sz="1000" u="sng">
                <a:solidFill>
                  <a:schemeClr val="lt1"/>
                </a:solidFill>
                <a:latin typeface="Courier New"/>
                <a:ea typeface="Courier New"/>
                <a:cs typeface="Courier New"/>
                <a:sym typeface="Courier New"/>
              </a:rPr>
              <a:t>Η εφαρμογή παρέχει ένα ολοκληρωμένο σύστημα διαχείρισης προϊόντων και αγορών, επιτρέποντας στον χρήστη να αλληλεπιδρά εύκολα με τα δεδομένα μέσω ενός σύγχρονου γραφικού περιβάλλοντος.</a:t>
            </a:r>
            <a:endParaRPr b="1" sz="1000" u="sng">
              <a:solidFill>
                <a:schemeClr val="lt1"/>
              </a:solidFill>
              <a:latin typeface="Courier New"/>
              <a:ea typeface="Courier New"/>
              <a:cs typeface="Courier New"/>
              <a:sym typeface="Courier New"/>
            </a:endParaRPr>
          </a:p>
          <a:p>
            <a:pPr indent="0" lvl="0" marL="0" rtl="0" algn="l">
              <a:lnSpc>
                <a:spcPct val="115000"/>
              </a:lnSpc>
              <a:spcBef>
                <a:spcPts val="1400"/>
              </a:spcBef>
              <a:spcAft>
                <a:spcPts val="0"/>
              </a:spcAft>
              <a:buClr>
                <a:schemeClr val="dk2"/>
              </a:buClr>
              <a:buSzPts val="1100"/>
              <a:buFont typeface="Arial"/>
              <a:buNone/>
            </a:pPr>
            <a:r>
              <a:rPr b="1" lang="el" sz="1000">
                <a:solidFill>
                  <a:schemeClr val="lt1"/>
                </a:solidFill>
                <a:highlight>
                  <a:srgbClr val="674EA7"/>
                </a:highlight>
                <a:latin typeface="Courier New"/>
                <a:ea typeface="Courier New"/>
                <a:cs typeface="Courier New"/>
                <a:sym typeface="Courier New"/>
              </a:rPr>
              <a:t>Διαχείριση Καλαθιού (Cart)</a:t>
            </a:r>
            <a:endParaRPr b="1" sz="1000">
              <a:solidFill>
                <a:schemeClr val="lt1"/>
              </a:solidFill>
              <a:highlight>
                <a:srgbClr val="674EA7"/>
              </a:highlight>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Ο χρήστης μπορεί να επιλέγει προϊόντα από τη διαθέσιμη λίστα και να τα προσθέτει στο καλάθι αγορών. Παρέχεται επίσης η δυνατότητα αφαίρεσης προϊόντων καθώς και ο αυτόματος υπολογισμός του συνολικού κόστους των αγορών.</a:t>
            </a:r>
            <a:endParaRPr sz="1000">
              <a:solidFill>
                <a:schemeClr val="lt1"/>
              </a:solidFill>
              <a:latin typeface="Courier New"/>
              <a:ea typeface="Courier New"/>
              <a:cs typeface="Courier New"/>
              <a:sym typeface="Courier New"/>
            </a:endParaRPr>
          </a:p>
          <a:p>
            <a:pPr indent="0" lvl="0" marL="0" rtl="0" algn="l">
              <a:lnSpc>
                <a:spcPct val="115000"/>
              </a:lnSpc>
              <a:spcBef>
                <a:spcPts val="1400"/>
              </a:spcBef>
              <a:spcAft>
                <a:spcPts val="0"/>
              </a:spcAft>
              <a:buClr>
                <a:schemeClr val="dk2"/>
              </a:buClr>
              <a:buSzPts val="1100"/>
              <a:buFont typeface="Arial"/>
              <a:buNone/>
            </a:pPr>
            <a:r>
              <a:rPr b="1" lang="el" sz="1000">
                <a:solidFill>
                  <a:schemeClr val="lt1"/>
                </a:solidFill>
                <a:highlight>
                  <a:srgbClr val="674EA7"/>
                </a:highlight>
                <a:latin typeface="Courier New"/>
                <a:ea typeface="Courier New"/>
                <a:cs typeface="Courier New"/>
                <a:sym typeface="Courier New"/>
              </a:rPr>
              <a:t>Διαχείριση Προϊόντων</a:t>
            </a:r>
            <a:endParaRPr b="1" sz="1000">
              <a:solidFill>
                <a:schemeClr val="lt1"/>
              </a:solidFill>
              <a:highlight>
                <a:srgbClr val="674EA7"/>
              </a:highlight>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Η εφαρμογή επιτρέπει την προβολή των προϊόντων που είναι αποθηκευμένα στη βάση δεδομένων. Τα προϊόντα μπορούν να εμφανίζονται με τα βασικά τους χαρακτηριστικά, όπως όνομα και τιμή, ώστε ο χρήστης να έχει άμεση πρόσβαση στις πληροφορίες τους.</a:t>
            </a:r>
            <a:endParaRPr sz="10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000">
              <a:solidFill>
                <a:schemeClr val="lt2"/>
              </a:solidFill>
              <a:latin typeface="Roboto"/>
              <a:ea typeface="Roboto"/>
              <a:cs typeface="Roboto"/>
              <a:sym typeface="Roboto"/>
            </a:endParaRPr>
          </a:p>
        </p:txBody>
      </p:sp>
      <p:sp>
        <p:nvSpPr>
          <p:cNvPr id="127" name="Google Shape;127;p17"/>
          <p:cNvSpPr txBox="1"/>
          <p:nvPr/>
        </p:nvSpPr>
        <p:spPr>
          <a:xfrm>
            <a:off x="4744375" y="1177975"/>
            <a:ext cx="4166700" cy="272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l" sz="1000">
                <a:solidFill>
                  <a:schemeClr val="lt1"/>
                </a:solidFill>
                <a:highlight>
                  <a:srgbClr val="674EA7"/>
                </a:highlight>
                <a:latin typeface="Courier New"/>
                <a:ea typeface="Courier New"/>
                <a:cs typeface="Courier New"/>
                <a:sym typeface="Courier New"/>
              </a:rPr>
              <a:t>Σύνδεση με Βάση Δεδομένων</a:t>
            </a:r>
            <a:endParaRPr b="1" sz="1000">
              <a:solidFill>
                <a:schemeClr val="lt1"/>
              </a:solidFill>
              <a:highlight>
                <a:srgbClr val="674EA7"/>
              </a:highlight>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Η εφαρμογή επικοινωνεί με τη βάση δεδομένων για την ανάκτηση και προβολή των προϊόντων. Με αυτόν τον τρόπο τα δεδομένα παραμένουν οργανωμένα και διαθέσιμα κάθε φορά που εκτελείται η εφαρμογή.</a:t>
            </a:r>
            <a:endParaRPr sz="1000">
              <a:solidFill>
                <a:schemeClr val="lt1"/>
              </a:solidFill>
              <a:latin typeface="Courier New"/>
              <a:ea typeface="Courier New"/>
              <a:cs typeface="Courier New"/>
              <a:sym typeface="Courier New"/>
            </a:endParaRPr>
          </a:p>
          <a:p>
            <a:pPr indent="0" lvl="0" marL="0" rtl="0" algn="l">
              <a:lnSpc>
                <a:spcPct val="115000"/>
              </a:lnSpc>
              <a:spcBef>
                <a:spcPts val="1400"/>
              </a:spcBef>
              <a:spcAft>
                <a:spcPts val="0"/>
              </a:spcAft>
              <a:buClr>
                <a:schemeClr val="dk2"/>
              </a:buClr>
              <a:buSzPts val="1100"/>
              <a:buFont typeface="Arial"/>
              <a:buNone/>
            </a:pPr>
            <a:r>
              <a:rPr b="1" lang="el" sz="1000">
                <a:solidFill>
                  <a:schemeClr val="lt1"/>
                </a:solidFill>
                <a:highlight>
                  <a:srgbClr val="674EA7"/>
                </a:highlight>
                <a:latin typeface="Courier New"/>
                <a:ea typeface="Courier New"/>
                <a:cs typeface="Courier New"/>
                <a:sym typeface="Courier New"/>
              </a:rPr>
              <a:t>Φιλικό Περιβάλλον Χρήστη</a:t>
            </a:r>
            <a:endParaRPr b="1" sz="1000">
              <a:solidFill>
                <a:schemeClr val="lt1"/>
              </a:solidFill>
              <a:highlight>
                <a:srgbClr val="674EA7"/>
              </a:highlight>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000">
                <a:solidFill>
                  <a:schemeClr val="lt1"/>
                </a:solidFill>
                <a:latin typeface="Courier New"/>
                <a:ea typeface="Courier New"/>
                <a:cs typeface="Courier New"/>
                <a:sym typeface="Courier New"/>
              </a:rPr>
              <a:t>Η εφαρμογή διαθέτει σύγχρονο περιβάλλον τύπου Dashboard με ξεχωριστές ενότητες για το Cart και τη Βάση Δεδομένων, προσφέροντας εύκολη πλοήγηση και καλύτερη οργάνωση των λειτουργιών.</a:t>
            </a:r>
            <a:endParaRPr sz="10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000">
              <a:solidFill>
                <a:schemeClr val="lt1"/>
              </a:solidFill>
              <a:latin typeface="Courier New"/>
              <a:ea typeface="Courier New"/>
              <a:cs typeface="Courier New"/>
              <a:sym typeface="Courier New"/>
            </a:endParaRPr>
          </a:p>
        </p:txBody>
      </p:sp>
      <p:sp>
        <p:nvSpPr>
          <p:cNvPr id="128" name="Google Shape;128;p17"/>
          <p:cNvSpPr/>
          <p:nvPr/>
        </p:nvSpPr>
        <p:spPr>
          <a:xfrm>
            <a:off x="4168175" y="2048625"/>
            <a:ext cx="576300" cy="175800"/>
          </a:xfrm>
          <a:prstGeom prst="leftRightArrow">
            <a:avLst>
              <a:gd fmla="val 50000" name="adj1"/>
              <a:gd fmla="val 50000" name="adj2"/>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124D"/>
              </a:solidFill>
              <a:highlight>
                <a:srgbClr val="073763"/>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 name="Shape 132"/>
        <p:cNvGrpSpPr/>
        <p:nvPr/>
      </p:nvGrpSpPr>
      <p:grpSpPr>
        <a:xfrm>
          <a:off x="0" y="0"/>
          <a:ext cx="0" cy="0"/>
          <a:chOff x="0" y="0"/>
          <a:chExt cx="0" cy="0"/>
        </a:xfrm>
      </p:grpSpPr>
      <p:cxnSp>
        <p:nvCxnSpPr>
          <p:cNvPr id="133" name="Google Shape;133;p18"/>
          <p:cNvCxnSpPr/>
          <p:nvPr/>
        </p:nvCxnSpPr>
        <p:spPr>
          <a:xfrm>
            <a:off x="853350" y="896775"/>
            <a:ext cx="7089000" cy="41700"/>
          </a:xfrm>
          <a:prstGeom prst="straightConnector1">
            <a:avLst/>
          </a:prstGeom>
          <a:noFill/>
          <a:ln cap="flat" cmpd="sng" w="19050">
            <a:solidFill>
              <a:schemeClr val="dk2"/>
            </a:solidFill>
            <a:prstDash val="solid"/>
            <a:round/>
            <a:headEnd len="med" w="med" type="diamond"/>
            <a:tailEnd len="med" w="med" type="diamond"/>
          </a:ln>
        </p:spPr>
      </p:cxnSp>
      <p:sp>
        <p:nvSpPr>
          <p:cNvPr id="134" name="Google Shape;134;p18"/>
          <p:cNvSpPr/>
          <p:nvPr/>
        </p:nvSpPr>
        <p:spPr>
          <a:xfrm>
            <a:off x="1153950" y="97925"/>
            <a:ext cx="6421200" cy="6903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5" name="Google Shape;135;p18"/>
          <p:cNvSpPr txBox="1"/>
          <p:nvPr/>
        </p:nvSpPr>
        <p:spPr>
          <a:xfrm>
            <a:off x="1154050" y="103550"/>
            <a:ext cx="6421200" cy="6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sz="3300">
                <a:solidFill>
                  <a:schemeClr val="lt1"/>
                </a:solidFill>
                <a:latin typeface="Courier New"/>
                <a:ea typeface="Courier New"/>
                <a:cs typeface="Courier New"/>
                <a:sym typeface="Courier New"/>
              </a:rPr>
              <a:t>{Καλάθι Αγορών}</a:t>
            </a:r>
            <a:endParaRPr sz="3300">
              <a:solidFill>
                <a:schemeClr val="lt1"/>
              </a:solidFill>
              <a:latin typeface="Courier New"/>
              <a:ea typeface="Courier New"/>
              <a:cs typeface="Courier New"/>
              <a:sym typeface="Courier New"/>
            </a:endParaRPr>
          </a:p>
        </p:txBody>
      </p:sp>
      <p:sp>
        <p:nvSpPr>
          <p:cNvPr id="136" name="Google Shape;136;p18"/>
          <p:cNvSpPr/>
          <p:nvPr/>
        </p:nvSpPr>
        <p:spPr>
          <a:xfrm>
            <a:off x="68475" y="1105475"/>
            <a:ext cx="3515400" cy="39078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7" name="Google Shape;137;p18"/>
          <p:cNvSpPr txBox="1"/>
          <p:nvPr/>
        </p:nvSpPr>
        <p:spPr>
          <a:xfrm>
            <a:off x="35075" y="1105475"/>
            <a:ext cx="3548700" cy="386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Το Καλάθι Αγορών είναι η βασική λειτουργία της εφαρμογής, όπου ο χρήστης μπορεί να συγκεντρώνει τα προϊόντα που θέλει να αγοράσει.</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Μέσα από μια απλή και εύχρηστη λίστα, ο χρήστης επιλέγει προϊόντα από τη διαθέσιμη λίστα και τα προσθέτει στο καλάθι του.</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Η εφαρμογή ενημερώνει αυτόματα το περιεχόμενο του καλαθιού και υπολογίζει το συνολικό κόστος των προϊόντων σε πραγματικό χρόνο.</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Επιπλέον, υπάρχει δυνατότητα αφαίρεσης προϊόντων και ολοκλήρωσης της αγοράς μέσω του κουμπιού Checkout, κάνοντας την εμπειρία πιο ρεαλιστική και κοντά σε ένα πραγματικό e-shop.</a:t>
            </a:r>
            <a:endParaRPr sz="11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lt2"/>
              </a:solidFill>
              <a:latin typeface="Courier New"/>
              <a:ea typeface="Courier New"/>
              <a:cs typeface="Courier New"/>
              <a:sym typeface="Courier New"/>
            </a:endParaRPr>
          </a:p>
        </p:txBody>
      </p:sp>
      <p:pic>
        <p:nvPicPr>
          <p:cNvPr id="138" name="Google Shape;138;p18"/>
          <p:cNvPicPr preferRelativeResize="0"/>
          <p:nvPr/>
        </p:nvPicPr>
        <p:blipFill>
          <a:blip r:embed="rId4">
            <a:alphaModFix/>
          </a:blip>
          <a:stretch>
            <a:fillRect/>
          </a:stretch>
        </p:blipFill>
        <p:spPr>
          <a:xfrm>
            <a:off x="3773025" y="1228650"/>
            <a:ext cx="5313275" cy="3661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cxnSp>
        <p:nvCxnSpPr>
          <p:cNvPr id="143" name="Google Shape;143;p19"/>
          <p:cNvCxnSpPr/>
          <p:nvPr/>
        </p:nvCxnSpPr>
        <p:spPr>
          <a:xfrm>
            <a:off x="1337650" y="888425"/>
            <a:ext cx="6087000" cy="33300"/>
          </a:xfrm>
          <a:prstGeom prst="straightConnector1">
            <a:avLst/>
          </a:prstGeom>
          <a:noFill/>
          <a:ln cap="flat" cmpd="sng" w="19050">
            <a:solidFill>
              <a:schemeClr val="lt1"/>
            </a:solidFill>
            <a:prstDash val="solid"/>
            <a:round/>
            <a:headEnd len="med" w="med" type="diamond"/>
            <a:tailEnd len="med" w="med" type="diamond"/>
          </a:ln>
        </p:spPr>
      </p:cxnSp>
      <p:sp>
        <p:nvSpPr>
          <p:cNvPr id="144" name="Google Shape;144;p19"/>
          <p:cNvSpPr/>
          <p:nvPr/>
        </p:nvSpPr>
        <p:spPr>
          <a:xfrm>
            <a:off x="1170550" y="139675"/>
            <a:ext cx="6421200" cy="6903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5" name="Google Shape;145;p19"/>
          <p:cNvSpPr txBox="1"/>
          <p:nvPr/>
        </p:nvSpPr>
        <p:spPr>
          <a:xfrm>
            <a:off x="1337650" y="153625"/>
            <a:ext cx="6120300" cy="69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b="1" lang="el" sz="3000">
                <a:solidFill>
                  <a:schemeClr val="lt1"/>
                </a:solidFill>
                <a:latin typeface="Courier New"/>
                <a:ea typeface="Courier New"/>
                <a:cs typeface="Courier New"/>
                <a:sym typeface="Courier New"/>
              </a:rPr>
              <a:t>-Βάση Δεδομένων-</a:t>
            </a:r>
            <a:r>
              <a:rPr lang="el" sz="2700">
                <a:solidFill>
                  <a:schemeClr val="lt1"/>
                </a:solidFill>
                <a:latin typeface="Courier New"/>
                <a:ea typeface="Courier New"/>
                <a:cs typeface="Courier New"/>
                <a:sym typeface="Courier New"/>
              </a:rPr>
              <a:t> </a:t>
            </a:r>
            <a:endParaRPr sz="27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
        <p:nvSpPr>
          <p:cNvPr id="146" name="Google Shape;146;p19"/>
          <p:cNvSpPr/>
          <p:nvPr/>
        </p:nvSpPr>
        <p:spPr>
          <a:xfrm>
            <a:off x="4754725" y="1193850"/>
            <a:ext cx="4181400" cy="35187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7" name="Google Shape;147;p19"/>
          <p:cNvSpPr/>
          <p:nvPr/>
        </p:nvSpPr>
        <p:spPr>
          <a:xfrm>
            <a:off x="172750" y="1193850"/>
            <a:ext cx="4181400" cy="35187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8" name="Google Shape;148;p19"/>
          <p:cNvSpPr txBox="1"/>
          <p:nvPr/>
        </p:nvSpPr>
        <p:spPr>
          <a:xfrm>
            <a:off x="177075" y="1197375"/>
            <a:ext cx="4181400" cy="351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l" sz="1300">
                <a:solidFill>
                  <a:schemeClr val="lt1"/>
                </a:solidFill>
                <a:latin typeface="Courier New"/>
                <a:ea typeface="Courier New"/>
                <a:cs typeface="Courier New"/>
                <a:sym typeface="Courier New"/>
              </a:rPr>
              <a:t>Η βάση δεδομένων αποτελεί ένα από τα πιο σημαντικά κομμάτια της εφαρμογής, καθώς είναι υπεύθυνη για την αποθήκευση και διαχείριση όλων των προϊόντων του συστήματος.</a:t>
            </a:r>
            <a:endParaRPr sz="13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t/>
            </a:r>
            <a:endParaRPr sz="13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300">
                <a:solidFill>
                  <a:schemeClr val="lt1"/>
                </a:solidFill>
                <a:latin typeface="Courier New"/>
                <a:ea typeface="Courier New"/>
                <a:cs typeface="Courier New"/>
                <a:sym typeface="Courier New"/>
              </a:rPr>
              <a:t>Μέσα στη βάση αποθηκεύονται πληροφορίες όπως:</a:t>
            </a:r>
            <a:endParaRPr sz="1300">
              <a:solidFill>
                <a:schemeClr val="lt1"/>
              </a:solidFill>
              <a:latin typeface="Courier New"/>
              <a:ea typeface="Courier New"/>
              <a:cs typeface="Courier New"/>
              <a:sym typeface="Courier New"/>
            </a:endParaRPr>
          </a:p>
          <a:p>
            <a:pPr indent="-266700" lvl="0" marL="457200" rtl="0" algn="l">
              <a:lnSpc>
                <a:spcPct val="115000"/>
              </a:lnSpc>
              <a:spcBef>
                <a:spcPts val="1200"/>
              </a:spcBef>
              <a:spcAft>
                <a:spcPts val="0"/>
              </a:spcAft>
              <a:buClr>
                <a:schemeClr val="lt1"/>
              </a:buClr>
              <a:buSzPts val="600"/>
              <a:buFont typeface="Courier New"/>
              <a:buChar char="●"/>
            </a:pPr>
            <a:r>
              <a:rPr lang="el" sz="1300">
                <a:solidFill>
                  <a:schemeClr val="lt1"/>
                </a:solidFill>
                <a:latin typeface="Courier New"/>
                <a:ea typeface="Courier New"/>
                <a:cs typeface="Courier New"/>
                <a:sym typeface="Courier New"/>
              </a:rPr>
              <a:t>το όνομα του προϊόντος</a:t>
            </a:r>
            <a:endParaRPr sz="1300">
              <a:solidFill>
                <a:schemeClr val="lt1"/>
              </a:solidFill>
              <a:latin typeface="Courier New"/>
              <a:ea typeface="Courier New"/>
              <a:cs typeface="Courier New"/>
              <a:sym typeface="Courier New"/>
            </a:endParaRPr>
          </a:p>
          <a:p>
            <a:pPr indent="-266700" lvl="0" marL="457200" rtl="0" algn="l">
              <a:lnSpc>
                <a:spcPct val="115000"/>
              </a:lnSpc>
              <a:spcBef>
                <a:spcPts val="0"/>
              </a:spcBef>
              <a:spcAft>
                <a:spcPts val="0"/>
              </a:spcAft>
              <a:buClr>
                <a:schemeClr val="lt1"/>
              </a:buClr>
              <a:buSzPts val="600"/>
              <a:buFont typeface="Courier New"/>
              <a:buChar char="●"/>
            </a:pPr>
            <a:r>
              <a:rPr lang="el" sz="1300">
                <a:solidFill>
                  <a:schemeClr val="lt1"/>
                </a:solidFill>
                <a:latin typeface="Courier New"/>
                <a:ea typeface="Courier New"/>
                <a:cs typeface="Courier New"/>
                <a:sym typeface="Courier New"/>
              </a:rPr>
              <a:t>η τιμή του</a:t>
            </a:r>
            <a:endParaRPr sz="1300">
              <a:solidFill>
                <a:schemeClr val="lt1"/>
              </a:solidFill>
              <a:latin typeface="Courier New"/>
              <a:ea typeface="Courier New"/>
              <a:cs typeface="Courier New"/>
              <a:sym typeface="Courier New"/>
            </a:endParaRPr>
          </a:p>
          <a:p>
            <a:pPr indent="-266700" lvl="0" marL="457200" rtl="0" algn="l">
              <a:lnSpc>
                <a:spcPct val="115000"/>
              </a:lnSpc>
              <a:spcBef>
                <a:spcPts val="0"/>
              </a:spcBef>
              <a:spcAft>
                <a:spcPts val="0"/>
              </a:spcAft>
              <a:buClr>
                <a:schemeClr val="lt1"/>
              </a:buClr>
              <a:buSzPts val="600"/>
              <a:buFont typeface="Courier New"/>
              <a:buChar char="●"/>
            </a:pPr>
            <a:r>
              <a:rPr lang="el" sz="1300">
                <a:solidFill>
                  <a:schemeClr val="lt1"/>
                </a:solidFill>
                <a:latin typeface="Courier New"/>
                <a:ea typeface="Courier New"/>
                <a:cs typeface="Courier New"/>
                <a:sym typeface="Courier New"/>
              </a:rPr>
              <a:t>η κατηγορία στην οποία ανήκει</a:t>
            </a:r>
            <a:endParaRPr sz="1300">
              <a:solidFill>
                <a:schemeClr val="lt1"/>
              </a:solidFill>
              <a:latin typeface="Courier New"/>
              <a:ea typeface="Courier New"/>
              <a:cs typeface="Courier New"/>
              <a:sym typeface="Courier New"/>
            </a:endParaRPr>
          </a:p>
          <a:p>
            <a:pPr indent="-266700" lvl="0" marL="457200" rtl="0" algn="l">
              <a:lnSpc>
                <a:spcPct val="115000"/>
              </a:lnSpc>
              <a:spcBef>
                <a:spcPts val="0"/>
              </a:spcBef>
              <a:spcAft>
                <a:spcPts val="0"/>
              </a:spcAft>
              <a:buClr>
                <a:schemeClr val="lt1"/>
              </a:buClr>
              <a:buSzPts val="600"/>
              <a:buFont typeface="Courier New"/>
              <a:buChar char="●"/>
            </a:pPr>
            <a:r>
              <a:rPr lang="el" sz="1300">
                <a:solidFill>
                  <a:schemeClr val="lt1"/>
                </a:solidFill>
                <a:latin typeface="Courier New"/>
                <a:ea typeface="Courier New"/>
                <a:cs typeface="Courier New"/>
                <a:sym typeface="Courier New"/>
              </a:rPr>
              <a:t>και η διαθεσιμότητά του</a:t>
            </a:r>
            <a:endParaRPr sz="1300">
              <a:solidFill>
                <a:schemeClr val="lt1"/>
              </a:solidFill>
              <a:latin typeface="Courier New"/>
              <a:ea typeface="Courier New"/>
              <a:cs typeface="Courier New"/>
              <a:sym typeface="Courier New"/>
            </a:endParaRPr>
          </a:p>
        </p:txBody>
      </p:sp>
      <p:sp>
        <p:nvSpPr>
          <p:cNvPr id="149" name="Google Shape;149;p19"/>
          <p:cNvSpPr txBox="1"/>
          <p:nvPr/>
        </p:nvSpPr>
        <p:spPr>
          <a:xfrm>
            <a:off x="4769475" y="1197375"/>
            <a:ext cx="4181400" cy="351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rPr lang="el" sz="1300">
                <a:solidFill>
                  <a:schemeClr val="lt1"/>
                </a:solidFill>
                <a:latin typeface="Courier New"/>
                <a:ea typeface="Courier New"/>
                <a:cs typeface="Courier New"/>
                <a:sym typeface="Courier New"/>
              </a:rPr>
              <a:t>Η εφαρμογή επικοινωνεί με τη βάση δεδομένων για να εμφανίζει τα προϊόντα στο χρήστη σε πραγματικό χρόνο και να εξασφαλίζει ότι τα δεδομένα είναι πάντα ενημερωμένα.</a:t>
            </a:r>
            <a:endParaRPr sz="13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300">
                <a:solidFill>
                  <a:schemeClr val="lt1"/>
                </a:solidFill>
                <a:latin typeface="Courier New"/>
                <a:ea typeface="Courier New"/>
                <a:cs typeface="Courier New"/>
                <a:sym typeface="Courier New"/>
              </a:rPr>
              <a:t>Επιπλέον, η βάση επιτρέπει:</a:t>
            </a:r>
            <a:endParaRPr sz="1300">
              <a:solidFill>
                <a:schemeClr val="lt1"/>
              </a:solidFill>
              <a:latin typeface="Courier New"/>
              <a:ea typeface="Courier New"/>
              <a:cs typeface="Courier New"/>
              <a:sym typeface="Courier New"/>
            </a:endParaRPr>
          </a:p>
          <a:p>
            <a:pPr indent="-266700" lvl="0" marL="457200" rtl="0" algn="l">
              <a:lnSpc>
                <a:spcPct val="115000"/>
              </a:lnSpc>
              <a:spcBef>
                <a:spcPts val="1200"/>
              </a:spcBef>
              <a:spcAft>
                <a:spcPts val="0"/>
              </a:spcAft>
              <a:buClr>
                <a:schemeClr val="lt1"/>
              </a:buClr>
              <a:buSzPts val="600"/>
              <a:buFont typeface="Courier New"/>
              <a:buChar char="●"/>
            </a:pPr>
            <a:r>
              <a:rPr lang="el" sz="1300">
                <a:solidFill>
                  <a:schemeClr val="lt1"/>
                </a:solidFill>
                <a:latin typeface="Courier New"/>
                <a:ea typeface="Courier New"/>
                <a:cs typeface="Courier New"/>
                <a:sym typeface="Courier New"/>
              </a:rPr>
              <a:t>την προσθήκη νέων προϊόντων</a:t>
            </a:r>
            <a:endParaRPr sz="1300">
              <a:solidFill>
                <a:schemeClr val="lt1"/>
              </a:solidFill>
              <a:latin typeface="Courier New"/>
              <a:ea typeface="Courier New"/>
              <a:cs typeface="Courier New"/>
              <a:sym typeface="Courier New"/>
            </a:endParaRPr>
          </a:p>
          <a:p>
            <a:pPr indent="-266700" lvl="0" marL="457200" rtl="0" algn="l">
              <a:lnSpc>
                <a:spcPct val="115000"/>
              </a:lnSpc>
              <a:spcBef>
                <a:spcPts val="0"/>
              </a:spcBef>
              <a:spcAft>
                <a:spcPts val="0"/>
              </a:spcAft>
              <a:buClr>
                <a:schemeClr val="lt1"/>
              </a:buClr>
              <a:buSzPts val="600"/>
              <a:buFont typeface="Courier New"/>
              <a:buChar char="●"/>
            </a:pPr>
            <a:r>
              <a:rPr lang="el" sz="1300">
                <a:solidFill>
                  <a:schemeClr val="lt1"/>
                </a:solidFill>
                <a:latin typeface="Courier New"/>
                <a:ea typeface="Courier New"/>
                <a:cs typeface="Courier New"/>
                <a:sym typeface="Courier New"/>
              </a:rPr>
              <a:t>την ενημέρωση υπαρχόντων δεδομένων</a:t>
            </a:r>
            <a:endParaRPr sz="1300">
              <a:solidFill>
                <a:schemeClr val="lt1"/>
              </a:solidFill>
              <a:latin typeface="Courier New"/>
              <a:ea typeface="Courier New"/>
              <a:cs typeface="Courier New"/>
              <a:sym typeface="Courier New"/>
            </a:endParaRPr>
          </a:p>
          <a:p>
            <a:pPr indent="-266700" lvl="0" marL="457200" rtl="0" algn="l">
              <a:lnSpc>
                <a:spcPct val="115000"/>
              </a:lnSpc>
              <a:spcBef>
                <a:spcPts val="0"/>
              </a:spcBef>
              <a:spcAft>
                <a:spcPts val="0"/>
              </a:spcAft>
              <a:buClr>
                <a:schemeClr val="lt1"/>
              </a:buClr>
              <a:buSzPts val="600"/>
              <a:buFont typeface="Courier New"/>
              <a:buChar char="●"/>
            </a:pPr>
            <a:r>
              <a:rPr lang="el" sz="1300">
                <a:solidFill>
                  <a:schemeClr val="lt1"/>
                </a:solidFill>
                <a:latin typeface="Courier New"/>
                <a:ea typeface="Courier New"/>
                <a:cs typeface="Courier New"/>
                <a:sym typeface="Courier New"/>
              </a:rPr>
              <a:t>και την ανάκτηση πληροφοριών για εμφάνιση στο σύστημα</a:t>
            </a:r>
            <a:endParaRPr sz="1300">
              <a:solidFill>
                <a:schemeClr val="lt1"/>
              </a:solidFill>
              <a:latin typeface="Courier New"/>
              <a:ea typeface="Courier New"/>
              <a:cs typeface="Courier New"/>
              <a:sym typeface="Courier New"/>
            </a:endParaRPr>
          </a:p>
          <a:p>
            <a:pPr indent="0" lvl="0" marL="0" rtl="0" algn="l">
              <a:lnSpc>
                <a:spcPct val="115000"/>
              </a:lnSpc>
              <a:spcBef>
                <a:spcPts val="1200"/>
              </a:spcBef>
              <a:spcAft>
                <a:spcPts val="1200"/>
              </a:spcAft>
              <a:buClr>
                <a:schemeClr val="dk2"/>
              </a:buClr>
              <a:buSzPts val="1100"/>
              <a:buFont typeface="Arial"/>
              <a:buNone/>
            </a:pPr>
            <a:r>
              <a:rPr lang="el" sz="1300">
                <a:solidFill>
                  <a:schemeClr val="lt1"/>
                </a:solidFill>
                <a:latin typeface="Courier New"/>
                <a:ea typeface="Courier New"/>
                <a:cs typeface="Courier New"/>
                <a:sym typeface="Courier New"/>
              </a:rPr>
              <a:t>Με αυτόν τον τρόπο, το σύστημα παραμένει οργανωμένο, γρήγορο και αξιόπιστο.</a:t>
            </a:r>
            <a:endParaRPr sz="1300">
              <a:solidFill>
                <a:schemeClr val="lt1"/>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20"/>
          <p:cNvSpPr/>
          <p:nvPr/>
        </p:nvSpPr>
        <p:spPr>
          <a:xfrm>
            <a:off x="1170550" y="139675"/>
            <a:ext cx="6421200" cy="6903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5" name="Google Shape;155;p20"/>
          <p:cNvSpPr txBox="1"/>
          <p:nvPr/>
        </p:nvSpPr>
        <p:spPr>
          <a:xfrm>
            <a:off x="1174750" y="134125"/>
            <a:ext cx="6421200" cy="7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l" sz="2500">
                <a:solidFill>
                  <a:schemeClr val="lt1"/>
                </a:solidFill>
                <a:latin typeface="Courier New"/>
                <a:ea typeface="Courier New"/>
                <a:cs typeface="Courier New"/>
                <a:sym typeface="Courier New"/>
              </a:rPr>
              <a:t>Σενάριο Χρήσης: Αγορά Προϊόντων </a:t>
            </a:r>
            <a:endParaRPr sz="2500">
              <a:solidFill>
                <a:schemeClr val="lt1"/>
              </a:solidFill>
              <a:latin typeface="Courier New"/>
              <a:ea typeface="Courier New"/>
              <a:cs typeface="Courier New"/>
              <a:sym typeface="Courier New"/>
            </a:endParaRPr>
          </a:p>
        </p:txBody>
      </p:sp>
      <p:cxnSp>
        <p:nvCxnSpPr>
          <p:cNvPr id="156" name="Google Shape;156;p20"/>
          <p:cNvCxnSpPr/>
          <p:nvPr/>
        </p:nvCxnSpPr>
        <p:spPr>
          <a:xfrm>
            <a:off x="569450" y="896775"/>
            <a:ext cx="7556700" cy="16800"/>
          </a:xfrm>
          <a:prstGeom prst="straightConnector1">
            <a:avLst/>
          </a:prstGeom>
          <a:noFill/>
          <a:ln cap="flat" cmpd="sng" w="19050">
            <a:solidFill>
              <a:schemeClr val="lt1"/>
            </a:solidFill>
            <a:prstDash val="solid"/>
            <a:round/>
            <a:headEnd len="med" w="med" type="diamond"/>
            <a:tailEnd len="med" w="med" type="diamond"/>
          </a:ln>
        </p:spPr>
      </p:cxnSp>
      <p:sp>
        <p:nvSpPr>
          <p:cNvPr id="157" name="Google Shape;157;p20"/>
          <p:cNvSpPr/>
          <p:nvPr/>
        </p:nvSpPr>
        <p:spPr>
          <a:xfrm>
            <a:off x="206150" y="1127050"/>
            <a:ext cx="2985000" cy="26670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8" name="Google Shape;158;p20"/>
          <p:cNvSpPr txBox="1"/>
          <p:nvPr/>
        </p:nvSpPr>
        <p:spPr>
          <a:xfrm>
            <a:off x="206150" y="1122225"/>
            <a:ext cx="2985000" cy="252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Η πιο βασική λειτουργία της εφαρμογής είναι η διαδικασία αγοράς μέσω του καλαθιού (Cart).</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Ο χρήστης επιλέγει προϊόντα από τη λίστα διαθέσιμων προϊόντων και τα προσθέτει στο καλάθι αγορών. Στη συνέχεια, η εφαρμογή υπολογίζει αυτόματα το συνολικό κόστος των προϊόντων.</a:t>
            </a:r>
            <a:endParaRPr sz="11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100">
              <a:solidFill>
                <a:schemeClr val="lt1"/>
              </a:solidFill>
              <a:latin typeface="Courier New"/>
              <a:ea typeface="Courier New"/>
              <a:cs typeface="Courier New"/>
              <a:sym typeface="Courier New"/>
            </a:endParaRPr>
          </a:p>
        </p:txBody>
      </p:sp>
      <p:sp>
        <p:nvSpPr>
          <p:cNvPr id="159" name="Google Shape;159;p20"/>
          <p:cNvSpPr/>
          <p:nvPr/>
        </p:nvSpPr>
        <p:spPr>
          <a:xfrm>
            <a:off x="3842600" y="1127050"/>
            <a:ext cx="4961700" cy="37944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0" name="Google Shape;160;p20"/>
          <p:cNvSpPr txBox="1"/>
          <p:nvPr/>
        </p:nvSpPr>
        <p:spPr>
          <a:xfrm>
            <a:off x="3844975" y="1122225"/>
            <a:ext cx="4961700" cy="379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l" sz="1100">
                <a:solidFill>
                  <a:schemeClr val="lt1"/>
                </a:solidFill>
                <a:latin typeface="Courier New"/>
                <a:ea typeface="Courier New"/>
                <a:cs typeface="Courier New"/>
                <a:sym typeface="Courier New"/>
              </a:rPr>
              <a:t>Παράδειγμα</a:t>
            </a:r>
            <a:endParaRPr b="1"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Ένας χρήστης θέλει να αγοράσει:</a:t>
            </a:r>
            <a:endParaRPr sz="1100">
              <a:solidFill>
                <a:schemeClr val="lt1"/>
              </a:solidFill>
              <a:latin typeface="Courier New"/>
              <a:ea typeface="Courier New"/>
              <a:cs typeface="Courier New"/>
              <a:sym typeface="Courier New"/>
            </a:endParaRPr>
          </a:p>
          <a:p>
            <a:pPr indent="-298450" lvl="0" marL="457200" rtl="0" algn="l">
              <a:lnSpc>
                <a:spcPct val="115000"/>
              </a:lnSpc>
              <a:spcBef>
                <a:spcPts val="1200"/>
              </a:spcBef>
              <a:spcAft>
                <a:spcPts val="0"/>
              </a:spcAft>
              <a:buClr>
                <a:schemeClr val="lt1"/>
              </a:buClr>
              <a:buSzPts val="1100"/>
              <a:buFont typeface="Courier New"/>
              <a:buChar char="●"/>
            </a:pPr>
            <a:r>
              <a:rPr lang="el" sz="1100">
                <a:solidFill>
                  <a:schemeClr val="lt1"/>
                </a:solidFill>
                <a:latin typeface="Courier New"/>
                <a:ea typeface="Courier New"/>
                <a:cs typeface="Courier New"/>
                <a:sym typeface="Courier New"/>
              </a:rPr>
              <a:t>Γάλα (2€)</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Char char="●"/>
            </a:pPr>
            <a:r>
              <a:rPr lang="el" sz="1100">
                <a:solidFill>
                  <a:schemeClr val="lt1"/>
                </a:solidFill>
                <a:latin typeface="Courier New"/>
                <a:ea typeface="Courier New"/>
                <a:cs typeface="Courier New"/>
                <a:sym typeface="Courier New"/>
              </a:rPr>
              <a:t>Ψωμί (1.5€)</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Char char="●"/>
            </a:pPr>
            <a:r>
              <a:rPr lang="el" sz="1100">
                <a:solidFill>
                  <a:schemeClr val="lt1"/>
                </a:solidFill>
                <a:latin typeface="Courier New"/>
                <a:ea typeface="Courier New"/>
                <a:cs typeface="Courier New"/>
                <a:sym typeface="Courier New"/>
              </a:rPr>
              <a:t>Καφές (7€)</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Βήματα:</a:t>
            </a:r>
            <a:endParaRPr sz="1100">
              <a:solidFill>
                <a:schemeClr val="lt1"/>
              </a:solidFill>
              <a:latin typeface="Courier New"/>
              <a:ea typeface="Courier New"/>
              <a:cs typeface="Courier New"/>
              <a:sym typeface="Courier New"/>
            </a:endParaRPr>
          </a:p>
          <a:p>
            <a:pPr indent="-298450" lvl="0" marL="457200" rtl="0" algn="l">
              <a:lnSpc>
                <a:spcPct val="115000"/>
              </a:lnSpc>
              <a:spcBef>
                <a:spcPts val="1200"/>
              </a:spcBef>
              <a:spcAft>
                <a:spcPts val="0"/>
              </a:spcAft>
              <a:buClr>
                <a:schemeClr val="lt1"/>
              </a:buClr>
              <a:buSzPts val="1100"/>
              <a:buFont typeface="Courier New"/>
              <a:buAutoNum type="arabicPeriod"/>
            </a:pPr>
            <a:r>
              <a:rPr lang="el" sz="1100">
                <a:solidFill>
                  <a:schemeClr val="lt1"/>
                </a:solidFill>
                <a:latin typeface="Courier New"/>
                <a:ea typeface="Courier New"/>
                <a:cs typeface="Courier New"/>
                <a:sym typeface="Courier New"/>
              </a:rPr>
              <a:t>Επιλέγει το κάθε προϊόν από τη λίστα.</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AutoNum type="arabicPeriod"/>
            </a:pPr>
            <a:r>
              <a:rPr lang="el" sz="1100">
                <a:solidFill>
                  <a:schemeClr val="lt1"/>
                </a:solidFill>
                <a:latin typeface="Courier New"/>
                <a:ea typeface="Courier New"/>
                <a:cs typeface="Courier New"/>
                <a:sym typeface="Courier New"/>
              </a:rPr>
              <a:t>Πατάει “Add to Cart”.</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AutoNum type="arabicPeriod"/>
            </a:pPr>
            <a:r>
              <a:rPr lang="el" sz="1100">
                <a:solidFill>
                  <a:schemeClr val="lt1"/>
                </a:solidFill>
                <a:latin typeface="Courier New"/>
                <a:ea typeface="Courier New"/>
                <a:cs typeface="Courier New"/>
                <a:sym typeface="Courier New"/>
              </a:rPr>
              <a:t>Τα προϊόντα εμφανίζονται στο καλάθι.</a:t>
            </a:r>
            <a:endParaRPr sz="1100">
              <a:solidFill>
                <a:schemeClr val="lt1"/>
              </a:solidFill>
              <a:latin typeface="Courier New"/>
              <a:ea typeface="Courier New"/>
              <a:cs typeface="Courier New"/>
              <a:sym typeface="Courier New"/>
            </a:endParaRPr>
          </a:p>
          <a:p>
            <a:pPr indent="-298450" lvl="0" marL="457200" rtl="0" algn="l">
              <a:lnSpc>
                <a:spcPct val="115000"/>
              </a:lnSpc>
              <a:spcBef>
                <a:spcPts val="0"/>
              </a:spcBef>
              <a:spcAft>
                <a:spcPts val="0"/>
              </a:spcAft>
              <a:buClr>
                <a:schemeClr val="lt1"/>
              </a:buClr>
              <a:buSzPts val="1100"/>
              <a:buFont typeface="Courier New"/>
              <a:buAutoNum type="arabicPeriod"/>
            </a:pPr>
            <a:r>
              <a:rPr lang="el" sz="1100">
                <a:solidFill>
                  <a:schemeClr val="lt1"/>
                </a:solidFill>
                <a:latin typeface="Courier New"/>
                <a:ea typeface="Courier New"/>
                <a:cs typeface="Courier New"/>
                <a:sym typeface="Courier New"/>
              </a:rPr>
              <a:t>Το σύστημα υπολογίζει αυτόματα το σύνολο.</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 Τελικό σύνολο: 10.5€</a:t>
            </a:r>
            <a:endParaRPr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Με αυτόν τον τρόπο, η εφαρμογή προσομοιώνει μια πραγματική εμπειρία ηλεκτρονικού ταμείου σε σούπερ μάρκετ.</a:t>
            </a:r>
            <a:endParaRPr sz="11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100">
              <a:solidFill>
                <a:schemeClr val="lt1"/>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sp>
        <p:nvSpPr>
          <p:cNvPr id="165" name="Google Shape;165;p21"/>
          <p:cNvSpPr/>
          <p:nvPr/>
        </p:nvSpPr>
        <p:spPr>
          <a:xfrm>
            <a:off x="1170550" y="139675"/>
            <a:ext cx="6421200" cy="6903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6" name="Google Shape;166;p21"/>
          <p:cNvCxnSpPr/>
          <p:nvPr/>
        </p:nvCxnSpPr>
        <p:spPr>
          <a:xfrm>
            <a:off x="569450" y="896775"/>
            <a:ext cx="7556700" cy="16800"/>
          </a:xfrm>
          <a:prstGeom prst="straightConnector1">
            <a:avLst/>
          </a:prstGeom>
          <a:noFill/>
          <a:ln cap="flat" cmpd="sng" w="19050">
            <a:solidFill>
              <a:srgbClr val="000000"/>
            </a:solidFill>
            <a:prstDash val="solid"/>
            <a:round/>
            <a:headEnd len="med" w="med" type="diamond"/>
            <a:tailEnd len="med" w="med" type="diamond"/>
          </a:ln>
        </p:spPr>
      </p:cxnSp>
      <p:sp>
        <p:nvSpPr>
          <p:cNvPr id="167" name="Google Shape;167;p21"/>
          <p:cNvSpPr txBox="1"/>
          <p:nvPr/>
        </p:nvSpPr>
        <p:spPr>
          <a:xfrm>
            <a:off x="1170550" y="147925"/>
            <a:ext cx="6421200" cy="69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l" sz="3500">
                <a:solidFill>
                  <a:schemeClr val="lt1"/>
                </a:solidFill>
                <a:latin typeface="Courier New"/>
                <a:ea typeface="Courier New"/>
                <a:cs typeface="Courier New"/>
                <a:sym typeface="Courier New"/>
              </a:rPr>
              <a:t>/Συμπεράσματα/</a:t>
            </a:r>
            <a:endParaRPr sz="3500">
              <a:solidFill>
                <a:schemeClr val="lt1"/>
              </a:solidFill>
              <a:latin typeface="Courier New"/>
              <a:ea typeface="Courier New"/>
              <a:cs typeface="Courier New"/>
              <a:sym typeface="Courier New"/>
            </a:endParaRPr>
          </a:p>
        </p:txBody>
      </p:sp>
      <p:sp>
        <p:nvSpPr>
          <p:cNvPr id="168" name="Google Shape;168;p21"/>
          <p:cNvSpPr/>
          <p:nvPr/>
        </p:nvSpPr>
        <p:spPr>
          <a:xfrm>
            <a:off x="414900" y="1127050"/>
            <a:ext cx="3469500" cy="38361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9" name="Google Shape;169;p21"/>
          <p:cNvSpPr/>
          <p:nvPr/>
        </p:nvSpPr>
        <p:spPr>
          <a:xfrm>
            <a:off x="5276625" y="1127050"/>
            <a:ext cx="3469500" cy="3836100"/>
          </a:xfrm>
          <a:prstGeom prst="rect">
            <a:avLst/>
          </a:prstGeom>
          <a:solidFill>
            <a:srgbClr val="000000">
              <a:alpha val="74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0" name="Google Shape;170;p21"/>
          <p:cNvSpPr txBox="1"/>
          <p:nvPr/>
        </p:nvSpPr>
        <p:spPr>
          <a:xfrm>
            <a:off x="414900" y="1127050"/>
            <a:ext cx="3469500" cy="379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Το SuperMarket Management System αποτελεί μια ολοκληρωμένη και λειτουργική εφαρμογή διαχείρισης προϊόντων, η οποία προσομοιώνει ένα πραγματικό σύστημα σούπερ μάρκετ.</a:t>
            </a:r>
            <a:endParaRPr sz="1100">
              <a:solidFill>
                <a:schemeClr val="lt1"/>
              </a:solidFill>
              <a:latin typeface="Courier New"/>
              <a:ea typeface="Courier New"/>
              <a:cs typeface="Courier New"/>
              <a:sym typeface="Courier New"/>
            </a:endParaRPr>
          </a:p>
          <a:p>
            <a:pPr indent="0" lvl="0" marL="0" rtl="0" algn="l">
              <a:lnSpc>
                <a:spcPct val="115000"/>
              </a:lnSpc>
              <a:spcBef>
                <a:spcPts val="1400"/>
              </a:spcBef>
              <a:spcAft>
                <a:spcPts val="0"/>
              </a:spcAft>
              <a:buClr>
                <a:schemeClr val="dk2"/>
              </a:buClr>
              <a:buSzPts val="1100"/>
              <a:buFont typeface="Arial"/>
              <a:buNone/>
            </a:pPr>
            <a:r>
              <a:rPr b="1" lang="el" sz="1100">
                <a:solidFill>
                  <a:schemeClr val="lt1"/>
                </a:solidFill>
                <a:latin typeface="Courier New"/>
                <a:ea typeface="Courier New"/>
                <a:cs typeface="Courier New"/>
                <a:sym typeface="Courier New"/>
              </a:rPr>
              <a:t>Τι επιτεύχθηκε:</a:t>
            </a:r>
            <a:endParaRPr b="1"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 Ανάπτυξη ενός πλήρως λειτουργικού συστήματος διαχείρισης προϊόντων</a:t>
            </a:r>
            <a:br>
              <a:rPr lang="el" sz="1100">
                <a:solidFill>
                  <a:schemeClr val="lt1"/>
                </a:solidFill>
                <a:latin typeface="Courier New"/>
                <a:ea typeface="Courier New"/>
                <a:cs typeface="Courier New"/>
                <a:sym typeface="Courier New"/>
              </a:rPr>
            </a:br>
            <a:r>
              <a:rPr lang="el" sz="1100">
                <a:solidFill>
                  <a:schemeClr val="lt1"/>
                </a:solidFill>
                <a:latin typeface="Courier New"/>
                <a:ea typeface="Courier New"/>
                <a:cs typeface="Courier New"/>
                <a:sym typeface="Courier New"/>
              </a:rPr>
              <a:t> ✔ Διαχωρισμός λειτουργιών σε Cart, Database</a:t>
            </a:r>
            <a:br>
              <a:rPr lang="el" sz="1100">
                <a:solidFill>
                  <a:schemeClr val="lt1"/>
                </a:solidFill>
                <a:latin typeface="Courier New"/>
                <a:ea typeface="Courier New"/>
                <a:cs typeface="Courier New"/>
                <a:sym typeface="Courier New"/>
              </a:rPr>
            </a:br>
            <a:r>
              <a:rPr lang="el" sz="1100">
                <a:solidFill>
                  <a:schemeClr val="lt1"/>
                </a:solidFill>
                <a:latin typeface="Courier New"/>
                <a:ea typeface="Courier New"/>
                <a:cs typeface="Courier New"/>
                <a:sym typeface="Courier New"/>
              </a:rPr>
              <a:t> ✔ Σύνδεση γραφικού περιβάλλοντος με βάση δεδομένων</a:t>
            </a:r>
            <a:br>
              <a:rPr lang="el" sz="1100">
                <a:solidFill>
                  <a:schemeClr val="lt1"/>
                </a:solidFill>
                <a:latin typeface="Courier New"/>
                <a:ea typeface="Courier New"/>
                <a:cs typeface="Courier New"/>
                <a:sym typeface="Courier New"/>
              </a:rPr>
            </a:br>
            <a:r>
              <a:rPr lang="el" sz="1100">
                <a:solidFill>
                  <a:schemeClr val="lt1"/>
                </a:solidFill>
                <a:latin typeface="Courier New"/>
                <a:ea typeface="Courier New"/>
                <a:cs typeface="Courier New"/>
                <a:sym typeface="Courier New"/>
              </a:rPr>
              <a:t> ✔ Υλοποίηση σύγχρονου και εύχρηστου UI τύπου dashboard</a:t>
            </a:r>
            <a:br>
              <a:rPr lang="el" sz="1100">
                <a:solidFill>
                  <a:schemeClr val="lt1"/>
                </a:solidFill>
                <a:latin typeface="Courier New"/>
                <a:ea typeface="Courier New"/>
                <a:cs typeface="Courier New"/>
                <a:sym typeface="Courier New"/>
              </a:rPr>
            </a:br>
            <a:r>
              <a:rPr lang="el" sz="1100">
                <a:solidFill>
                  <a:schemeClr val="lt1"/>
                </a:solidFill>
                <a:latin typeface="Courier New"/>
                <a:ea typeface="Courier New"/>
                <a:cs typeface="Courier New"/>
                <a:sym typeface="Courier New"/>
              </a:rPr>
              <a:t> ✔ Υπολογισμός καλαθιού αγορών σε πραγματικό χρόνο</a:t>
            </a:r>
            <a:endParaRPr sz="11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100">
              <a:solidFill>
                <a:schemeClr val="lt1"/>
              </a:solidFill>
              <a:latin typeface="Courier New"/>
              <a:ea typeface="Courier New"/>
              <a:cs typeface="Courier New"/>
              <a:sym typeface="Courier New"/>
            </a:endParaRPr>
          </a:p>
        </p:txBody>
      </p:sp>
      <p:sp>
        <p:nvSpPr>
          <p:cNvPr id="171" name="Google Shape;171;p21"/>
          <p:cNvSpPr txBox="1"/>
          <p:nvPr/>
        </p:nvSpPr>
        <p:spPr>
          <a:xfrm>
            <a:off x="5278775" y="1122225"/>
            <a:ext cx="3469500" cy="383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l" sz="1100">
                <a:solidFill>
                  <a:schemeClr val="lt1"/>
                </a:solidFill>
                <a:latin typeface="Courier New"/>
                <a:ea typeface="Courier New"/>
                <a:cs typeface="Courier New"/>
                <a:sym typeface="Courier New"/>
              </a:rPr>
              <a:t>Συνολική αξιολόγηση:</a:t>
            </a:r>
            <a:endParaRPr b="1"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Η εφαρμογή συνδυάζει λειτουργικότητα και απλότητα, προσφέροντας ένα εύχρηστο περιβάλλον για τον χρήστη και ταυτόχρονα μια σωστή αρχιτεκτονική δομή που επιτρέπει μελλοντική επέκταση.</a:t>
            </a:r>
            <a:endParaRPr sz="1100">
              <a:solidFill>
                <a:schemeClr val="lt1"/>
              </a:solidFill>
              <a:latin typeface="Courier New"/>
              <a:ea typeface="Courier New"/>
              <a:cs typeface="Courier New"/>
              <a:sym typeface="Courier New"/>
            </a:endParaRPr>
          </a:p>
          <a:p>
            <a:pPr indent="0" lvl="0" marL="0" rtl="0" algn="l">
              <a:lnSpc>
                <a:spcPct val="115000"/>
              </a:lnSpc>
              <a:spcBef>
                <a:spcPts val="1400"/>
              </a:spcBef>
              <a:spcAft>
                <a:spcPts val="0"/>
              </a:spcAft>
              <a:buClr>
                <a:schemeClr val="dk2"/>
              </a:buClr>
              <a:buSzPts val="1100"/>
              <a:buFont typeface="Arial"/>
              <a:buNone/>
            </a:pPr>
            <a:r>
              <a:rPr b="1" lang="el" sz="1100">
                <a:solidFill>
                  <a:schemeClr val="lt1"/>
                </a:solidFill>
                <a:latin typeface="Courier New"/>
                <a:ea typeface="Courier New"/>
                <a:cs typeface="Courier New"/>
                <a:sym typeface="Courier New"/>
              </a:rPr>
              <a:t>Τελικό αποτέλεσμα:</a:t>
            </a:r>
            <a:endParaRPr b="1" sz="1100">
              <a:solidFill>
                <a:schemeClr val="lt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2"/>
              </a:buClr>
              <a:buSzPts val="1100"/>
              <a:buFont typeface="Arial"/>
              <a:buNone/>
            </a:pPr>
            <a:r>
              <a:rPr lang="el" sz="1100">
                <a:solidFill>
                  <a:schemeClr val="lt1"/>
                </a:solidFill>
                <a:latin typeface="Courier New"/>
                <a:ea typeface="Courier New"/>
                <a:cs typeface="Courier New"/>
                <a:sym typeface="Courier New"/>
              </a:rPr>
              <a:t>Το project αποδεικνύει βασικές αρχές προγραμματισμού σε C#, διαχείρισης δεδομένων και σχεδίασης UI, δημιουργώντας μια ρεαλιστική προσομοίωση συστήματος σούπερ μάρκετ.</a:t>
            </a:r>
            <a:endParaRPr sz="1100">
              <a:solidFill>
                <a:schemeClr val="lt1"/>
              </a:solidFill>
              <a:latin typeface="Courier New"/>
              <a:ea typeface="Courier New"/>
              <a:cs typeface="Courier New"/>
              <a:sym typeface="Courier New"/>
            </a:endParaRPr>
          </a:p>
          <a:p>
            <a:pPr indent="0" lvl="0" marL="0" rtl="0" algn="l">
              <a:spcBef>
                <a:spcPts val="1200"/>
              </a:spcBef>
              <a:spcAft>
                <a:spcPts val="0"/>
              </a:spcAft>
              <a:buNone/>
            </a:pPr>
            <a:r>
              <a:t/>
            </a:r>
            <a:endParaRPr sz="1100">
              <a:solidFill>
                <a:schemeClr val="lt1"/>
              </a:solidFill>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000000"/>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